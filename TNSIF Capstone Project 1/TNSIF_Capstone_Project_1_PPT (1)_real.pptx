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6"/>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VbKSE3o/eYBIKbAgkcIW7PGNB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14.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customschemas.google.com/relationships/presentationmetadata" Target="metadata"/><Relationship Id="rId20" Type="http://schemas.openxmlformats.org/officeDocument/2006/relationships/slide" Target="slides/slide15.xml"/><Relationship Id="rId21"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5183188" y="987425"/>
            <a:ext cx="6172200" cy="4873625"/>
          </a:xfrm>
          <a:prstGeom prst="rect">
            <a:avLst/>
          </a:prstGeom>
          <a:noFill/>
          <a:ln>
            <a:noFill/>
          </a:ln>
        </p:spPr>
      </p:sp>
      <p:sp>
        <p:nvSpPr>
          <p:cNvPr id="64" name="Google Shape;64;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2870212"/>
            <a:ext cx="9144000" cy="1654500"/>
          </a:xfrm>
          <a:prstGeom prst="rect">
            <a:avLst/>
          </a:prstGeom>
          <a:noFill/>
          <a:ln>
            <a:noFill/>
          </a:ln>
        </p:spPr>
        <p:txBody>
          <a:bodyPr anchorCtr="0" anchor="b" bIns="45700" lIns="91425" spcFirstLastPara="1" rIns="91425" wrap="square" tIns="45700">
            <a:noAutofit/>
          </a:bodyPr>
          <a:lstStyle/>
          <a:p>
            <a:pPr indent="0" lvl="0" marL="0" rtl="0" algn="ctr">
              <a:lnSpc>
                <a:spcPct val="200000"/>
              </a:lnSpc>
              <a:spcBef>
                <a:spcPts val="0"/>
              </a:spcBef>
              <a:spcAft>
                <a:spcPts val="0"/>
              </a:spcAft>
              <a:buClr>
                <a:srgbClr val="0C3571"/>
              </a:buClr>
              <a:buSzPts val="2800"/>
              <a:buFont typeface="Anta"/>
              <a:buNone/>
            </a:pPr>
            <a:br>
              <a:rPr b="1" lang="en-IN" sz="2800">
                <a:solidFill>
                  <a:srgbClr val="0C3571"/>
                </a:solidFill>
                <a:latin typeface="Anta"/>
                <a:ea typeface="Anta"/>
                <a:cs typeface="Anta"/>
                <a:sym typeface="Anta"/>
              </a:rPr>
            </a:br>
            <a:br>
              <a:rPr b="1" lang="en-IN" sz="2800">
                <a:solidFill>
                  <a:srgbClr val="0C3571"/>
                </a:solidFill>
                <a:latin typeface="Anta"/>
                <a:ea typeface="Anta"/>
                <a:cs typeface="Anta"/>
                <a:sym typeface="Anta"/>
              </a:rPr>
            </a:br>
            <a:br>
              <a:rPr b="1" lang="en-IN" sz="2800">
                <a:solidFill>
                  <a:srgbClr val="0C3571"/>
                </a:solidFill>
                <a:latin typeface="Anta"/>
                <a:ea typeface="Anta"/>
                <a:cs typeface="Anta"/>
                <a:sym typeface="Anta"/>
              </a:rPr>
            </a:br>
            <a:br>
              <a:rPr b="1" lang="en-IN" sz="2800">
                <a:solidFill>
                  <a:srgbClr val="0C3571"/>
                </a:solidFill>
                <a:latin typeface="Anta"/>
                <a:ea typeface="Anta"/>
                <a:cs typeface="Anta"/>
                <a:sym typeface="Anta"/>
              </a:rPr>
            </a:br>
            <a:br>
              <a:rPr b="1" lang="en-IN" sz="2800">
                <a:solidFill>
                  <a:srgbClr val="0C3571"/>
                </a:solidFill>
                <a:latin typeface="Anta"/>
                <a:ea typeface="Anta"/>
                <a:cs typeface="Anta"/>
                <a:sym typeface="Anta"/>
              </a:rPr>
            </a:br>
            <a:r>
              <a:rPr b="1" lang="en-IN" sz="4400">
                <a:solidFill>
                  <a:srgbClr val="0C3571"/>
                </a:solidFill>
                <a:latin typeface="Times New Roman"/>
                <a:ea typeface="Times New Roman"/>
                <a:cs typeface="Times New Roman"/>
                <a:sym typeface="Times New Roman"/>
              </a:rPr>
              <a:t>Capstone Project 1 </a:t>
            </a:r>
            <a:br>
              <a:rPr b="1" lang="en-IN" sz="4400">
                <a:solidFill>
                  <a:srgbClr val="0C3571"/>
                </a:solidFill>
                <a:latin typeface="Times New Roman"/>
                <a:ea typeface="Times New Roman"/>
                <a:cs typeface="Times New Roman"/>
                <a:sym typeface="Times New Roman"/>
              </a:rPr>
            </a:br>
            <a:r>
              <a:rPr b="1" lang="en-IN" sz="2400">
                <a:solidFill>
                  <a:srgbClr val="0C3571"/>
                </a:solidFill>
                <a:latin typeface="Times New Roman"/>
                <a:ea typeface="Times New Roman"/>
                <a:cs typeface="Times New Roman"/>
                <a:sym typeface="Times New Roman"/>
              </a:rPr>
              <a:t>MANUFACTURING  EQUIPMENT  OUTPUT PREDICTION  WITH  LINEAR  REGRESSION</a:t>
            </a:r>
            <a:endParaRPr b="1" sz="2400">
              <a:solidFill>
                <a:srgbClr val="0C3571"/>
              </a:solidFill>
              <a:latin typeface="Times New Roman"/>
              <a:ea typeface="Times New Roman"/>
              <a:cs typeface="Times New Roman"/>
              <a:sym typeface="Times New Roman"/>
            </a:endParaRPr>
          </a:p>
          <a:p>
            <a:pPr indent="0" lvl="0" marL="0" rtl="0" algn="ctr">
              <a:lnSpc>
                <a:spcPct val="200000"/>
              </a:lnSpc>
              <a:spcBef>
                <a:spcPts val="0"/>
              </a:spcBef>
              <a:spcAft>
                <a:spcPts val="0"/>
              </a:spcAft>
              <a:buClr>
                <a:srgbClr val="0C3571"/>
              </a:buClr>
              <a:buSzPts val="2800"/>
              <a:buFont typeface="Anta"/>
              <a:buNone/>
            </a:pPr>
            <a:r>
              <a:t/>
            </a:r>
            <a:endParaRPr b="1" sz="2300">
              <a:solidFill>
                <a:srgbClr val="0C3571"/>
              </a:solidFill>
              <a:latin typeface="Arial"/>
              <a:ea typeface="Arial"/>
              <a:cs typeface="Arial"/>
              <a:sym typeface="Arial"/>
            </a:endParaRPr>
          </a:p>
          <a:p>
            <a:pPr indent="0" lvl="0" marL="0" rtl="0" algn="ctr">
              <a:lnSpc>
                <a:spcPct val="200000"/>
              </a:lnSpc>
              <a:spcBef>
                <a:spcPts val="0"/>
              </a:spcBef>
              <a:spcAft>
                <a:spcPts val="0"/>
              </a:spcAft>
              <a:buClr>
                <a:srgbClr val="0C3571"/>
              </a:buClr>
              <a:buSzPts val="2800"/>
              <a:buFont typeface="Anta"/>
              <a:buNone/>
            </a:pPr>
            <a:br>
              <a:rPr b="1" lang="en-IN" sz="1400">
                <a:solidFill>
                  <a:srgbClr val="2F5496"/>
                </a:solidFill>
                <a:latin typeface="Times New Roman"/>
                <a:ea typeface="Times New Roman"/>
                <a:cs typeface="Times New Roman"/>
                <a:sym typeface="Times New Roman"/>
              </a:rPr>
            </a:br>
            <a:endParaRPr sz="1400">
              <a:solidFill>
                <a:srgbClr val="2F5496"/>
              </a:solidFill>
              <a:latin typeface="Times New Roman"/>
              <a:ea typeface="Times New Roman"/>
              <a:cs typeface="Times New Roman"/>
              <a:sym typeface="Times New Roman"/>
            </a:endParaRPr>
          </a:p>
        </p:txBody>
      </p:sp>
      <p:sp>
        <p:nvSpPr>
          <p:cNvPr id="85" name="Google Shape;85;p1"/>
          <p:cNvSpPr txBox="1"/>
          <p:nvPr/>
        </p:nvSpPr>
        <p:spPr>
          <a:xfrm>
            <a:off x="6900000" y="4225385"/>
            <a:ext cx="4900000" cy="246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2800" u="none" cap="none" strike="noStrike">
                <a:solidFill>
                  <a:srgbClr val="2F5496"/>
                </a:solidFill>
                <a:latin typeface="Times New Roman"/>
                <a:ea typeface="Times New Roman"/>
                <a:cs typeface="Times New Roman"/>
                <a:sym typeface="Times New Roman"/>
              </a:rPr>
              <a:t>Team Members</a:t>
            </a:r>
            <a:endParaRPr/>
          </a:p>
          <a:p>
            <a:pPr indent="0" lvl="0" marL="0" marR="0" rtl="0" algn="l">
              <a:spcBef>
                <a:spcPts val="0"/>
              </a:spcBef>
              <a:spcAft>
                <a:spcPts val="0"/>
              </a:spcAft>
              <a:buNone/>
            </a:pPr>
            <a:r>
              <a:rPr lang="en-IN" sz="1800">
                <a:solidFill>
                  <a:srgbClr val="2F5496"/>
                </a:solidFill>
                <a:latin typeface="Times New Roman"/>
                <a:ea typeface="Times New Roman"/>
                <a:cs typeface="Times New Roman"/>
                <a:sym typeface="Times New Roman"/>
              </a:rPr>
              <a:t>T170800533: Yash Bangar</a:t>
            </a:r>
            <a:endParaRPr/>
          </a:p>
          <a:p>
            <a:pPr indent="0" lvl="0" marL="0" marR="0" rtl="0" algn="l">
              <a:spcBef>
                <a:spcPts val="0"/>
              </a:spcBef>
              <a:spcAft>
                <a:spcPts val="0"/>
              </a:spcAft>
              <a:buNone/>
            </a:pPr>
            <a:r>
              <a:rPr lang="en-IN" sz="1800">
                <a:solidFill>
                  <a:srgbClr val="2F5496"/>
                </a:solidFill>
                <a:latin typeface="Times New Roman"/>
                <a:ea typeface="Times New Roman"/>
                <a:cs typeface="Times New Roman"/>
                <a:sym typeface="Times New Roman"/>
              </a:rPr>
              <a:t>T170800536: Vishnu Jagtap</a:t>
            </a:r>
            <a:endParaRPr sz="1800">
              <a:solidFill>
                <a:srgbClr val="2F5496"/>
              </a:solidFill>
              <a:latin typeface="Times New Roman"/>
              <a:ea typeface="Times New Roman"/>
              <a:cs typeface="Times New Roman"/>
              <a:sym typeface="Times New Roman"/>
            </a:endParaRPr>
          </a:p>
          <a:p>
            <a:pPr indent="0" lvl="0" marL="0" marR="0" rtl="0" algn="l">
              <a:spcBef>
                <a:spcPts val="0"/>
              </a:spcBef>
              <a:spcAft>
                <a:spcPts val="0"/>
              </a:spcAft>
              <a:buNone/>
            </a:pPr>
            <a:r>
              <a:rPr lang="en-IN" sz="1800">
                <a:solidFill>
                  <a:srgbClr val="2F5496"/>
                </a:solidFill>
                <a:latin typeface="Times New Roman"/>
                <a:ea typeface="Times New Roman"/>
                <a:cs typeface="Times New Roman"/>
                <a:sym typeface="Times New Roman"/>
              </a:rPr>
              <a:t>T170800531: Abuzar Maksud Allam Shaikh</a:t>
            </a:r>
            <a:endParaRPr sz="1800">
              <a:solidFill>
                <a:srgbClr val="2F5496"/>
              </a:solidFill>
              <a:latin typeface="Times New Roman"/>
              <a:ea typeface="Times New Roman"/>
              <a:cs typeface="Times New Roman"/>
              <a:sym typeface="Times New Roman"/>
            </a:endParaRPr>
          </a:p>
        </p:txBody>
      </p:sp>
      <p:pic>
        <p:nvPicPr>
          <p:cNvPr id="86" name="Google Shape;86;p1"/>
          <p:cNvPicPr preferRelativeResize="0"/>
          <p:nvPr/>
        </p:nvPicPr>
        <p:blipFill rotWithShape="1">
          <a:blip r:embed="rId3">
            <a:alphaModFix/>
          </a:blip>
          <a:srcRect b="0" l="0" r="0" t="0"/>
          <a:stretch/>
        </p:blipFill>
        <p:spPr>
          <a:xfrm>
            <a:off x="10232571" y="304800"/>
            <a:ext cx="1578429" cy="1055914"/>
          </a:xfrm>
          <a:prstGeom prst="rect">
            <a:avLst/>
          </a:prstGeom>
          <a:noFill/>
          <a:ln>
            <a:noFill/>
          </a:ln>
        </p:spPr>
      </p:pic>
      <p:sp>
        <p:nvSpPr>
          <p:cNvPr id="87" name="Google Shape;87;p1"/>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rgbClr val="2F5496"/>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400000"/>
            <a:ext cx="9200000" cy="800000"/>
          </a:xfrm>
          <a:prstGeom prst="rect">
            <a:avLst/>
          </a:prstGeom>
          <a:noFill/>
        </p:spPr>
        <p:txBody>
          <a:bodyPr wrap="square" anchor="t">
            <a:spAutoFit/>
          </a:bodyPr>
          <a:lstStyle/>
          <a:p>
            <a:pPr algn="l" marL="0" indent="0">
              <a:buNone/>
            </a:pPr>
            <a:r>
              <a:rPr sz="4000" b="0" i="0">
                <a:solidFill>
                  <a:srgbClr val="2F5496"/>
                </a:solidFill>
                <a:latin typeface="Times New Roman"/>
                <a:ea typeface="Times New Roman"/>
                <a:cs typeface="Times New Roman"/>
                <a:sym typeface="Times New Roman"/>
              </a:rPr>
              <a:t>Table of Contents</a:t>
            </a:r>
          </a:p>
        </p:txBody>
      </p:sp>
      <p:sp>
        <p:nvSpPr>
          <p:cNvPr id="4" name="TextBox 3"/>
          <p:cNvSpPr txBox="1"/>
          <p:nvPr/>
        </p:nvSpPr>
        <p:spPr>
          <a:xfrm>
            <a:off x="925286" y="1350000"/>
            <a:ext cx="9000000" cy="5300000"/>
          </a:xfrm>
          <a:prstGeom prst="rect">
            <a:avLst/>
          </a:prstGeom>
          <a:noFill/>
        </p:spPr>
        <p:txBody>
          <a:bodyPr wrap="square" anchor="t">
            <a:spAutoFit/>
          </a:bodyPr>
          <a:lstStyle/>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Problem Statement</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Overview of the Project</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Data Loading &amp; Understanding</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Exploratory Data Analysis</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Data Preprocessing &amp; Feature Engineering</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Model Building &amp; Training</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Model Evaluation &amp; Performance Analysis</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Key Insights &amp; Recommendations</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FastAPI Deployment</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Docker Deployment</a:t>
            </a:r>
          </a:p>
          <a:p>
            <a:pPr algn="l" marL="285750" indent="-285750">
              <a:spcAft>
                <a:spcPts val="700"/>
              </a:spcAft>
              <a:buClr>
                <a:srgbClr val="2F5496"/>
              </a:buClr>
              <a:buFont typeface="Arial"/>
              <a:buChar char="•"/>
            </a:pPr>
            <a:r>
              <a:rPr sz="2600" b="0" i="0">
                <a:solidFill>
                  <a:srgbClr val="2F5496"/>
                </a:solidFill>
                <a:latin typeface="Times New Roman"/>
                <a:ea typeface="Times New Roman"/>
                <a:cs typeface="Times New Roman"/>
                <a:sym typeface="Times New Roman"/>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566021"/>
            <a:ext cx="9200000" cy="700000"/>
          </a:xfrm>
          <a:prstGeom prst="rect">
            <a:avLst/>
          </a:prstGeom>
          <a:noFill/>
        </p:spPr>
        <p:txBody>
          <a:bodyPr wrap="square" anchor="t">
            <a:spAutoFit/>
          </a:bodyPr>
          <a:lstStyle/>
          <a:p>
            <a:pPr algn="l" marL="0" indent="0">
              <a:buNone/>
            </a:pPr>
            <a:r>
              <a:rPr sz="2800" b="1" i="0">
                <a:solidFill>
                  <a:srgbClr val="2F5496"/>
                </a:solidFill>
                <a:latin typeface="Times New Roman"/>
                <a:ea typeface="Times New Roman"/>
                <a:cs typeface="Times New Roman"/>
                <a:sym typeface="Times New Roman"/>
              </a:rPr>
              <a:t>Problem Statement</a:t>
            </a:r>
          </a:p>
        </p:txBody>
      </p:sp>
      <p:sp>
        <p:nvSpPr>
          <p:cNvPr id="4" name="TextBox 3"/>
          <p:cNvSpPr txBox="1"/>
          <p:nvPr/>
        </p:nvSpPr>
        <p:spPr>
          <a:xfrm>
            <a:off x="925275" y="1500000"/>
            <a:ext cx="10300000" cy="4500000"/>
          </a:xfrm>
          <a:prstGeom prst="rect">
            <a:avLst/>
          </a:prstGeom>
          <a:noFill/>
        </p:spPr>
        <p:txBody>
          <a:bodyPr wrap="square" anchor="t">
            <a:spAutoFit/>
          </a:bodyPr>
          <a:lstStyle/>
          <a:p>
            <a:pPr algn="just" marL="0" indent="0">
              <a:lnSpc>
                <a:spcPct val="110000"/>
              </a:lnSpc>
              <a:buNone/>
            </a:pPr>
            <a:r>
              <a:rPr sz="2400" b="0" i="0">
                <a:solidFill>
                  <a:srgbClr val="0C3571"/>
                </a:solidFill>
                <a:latin typeface="Times New Roman"/>
                <a:ea typeface="Times New Roman"/>
                <a:cs typeface="Times New Roman"/>
                <a:sym typeface="Times New Roman"/>
              </a:rPr>
              <a:t>You are working as a data analyst for a manufacturing company that operates injection molding machines to produce plastic components. The company wants to optimize production efficiency by predicting the hourly output (number of parts produced per hour) based on various machine operating parameters. Your task is to build a linear regression model that can predict machine output using factors like temperature, pressure, cycle time, and material properties. This will help the production team optimize machine settings, plan production schedules, and identify when machines are underperforming.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249475" y="300000"/>
            <a:ext cx="9500000" cy="600000"/>
          </a:xfrm>
          <a:prstGeom prst="rect">
            <a:avLst/>
          </a:prstGeom>
          <a:noFill/>
        </p:spPr>
        <p:txBody>
          <a:bodyPr wrap="square" anchor="t">
            <a:spAutoFit/>
          </a:bodyPr>
          <a:lstStyle/>
          <a:p>
            <a:pPr algn="l" marL="0" indent="0">
              <a:buNone/>
            </a:pPr>
            <a:r>
              <a:rPr sz="2800" b="1" i="0">
                <a:solidFill>
                  <a:srgbClr val="2F5496"/>
                </a:solidFill>
                <a:latin typeface="Times New Roman"/>
                <a:ea typeface="Times New Roman"/>
                <a:cs typeface="Times New Roman"/>
                <a:sym typeface="Times New Roman"/>
              </a:rPr>
              <a:t>Overview of the Project</a:t>
            </a:r>
          </a:p>
        </p:txBody>
      </p:sp>
      <p:sp>
        <p:nvSpPr>
          <p:cNvPr id="4" name="TextBox 3"/>
          <p:cNvSpPr txBox="1"/>
          <p:nvPr/>
        </p:nvSpPr>
        <p:spPr>
          <a:xfrm>
            <a:off x="249475" y="1100000"/>
            <a:ext cx="9800000" cy="5600000"/>
          </a:xfrm>
          <a:prstGeom prst="rect">
            <a:avLst/>
          </a:prstGeom>
          <a:noFill/>
        </p:spPr>
        <p:txBody>
          <a:bodyPr wrap="square" anchor="t">
            <a:spAutoFit/>
          </a:bodyPr>
          <a:lstStyle/>
          <a:p>
            <a:pPr algn="just" marL="285750" indent="-285750">
              <a:spcAft>
                <a:spcPts val="1100"/>
              </a:spcAft>
              <a:buClr>
                <a:srgbClr val="2F5496"/>
              </a:buClr>
              <a:buFont typeface="Arial"/>
              <a:buChar char="•"/>
            </a:pPr>
            <a:r>
              <a:rPr sz="2000" b="0" i="0">
                <a:solidFill>
                  <a:srgbClr val="0C3571"/>
                </a:solidFill>
                <a:latin typeface="Times New Roman"/>
                <a:ea typeface="Times New Roman"/>
                <a:cs typeface="Times New Roman"/>
                <a:sym typeface="Times New Roman"/>
              </a:rPr>
              <a:t>This project predicts the hourly output (Parts_Per_Hour) of injection molding machines using linear regression, based on operating parameters like temperature, pressure, cycle time, and material properties.</a:t>
            </a:r>
          </a:p>
          <a:p>
            <a:pPr algn="just" marL="285750" indent="-285750">
              <a:spcAft>
                <a:spcPts val="1100"/>
              </a:spcAft>
              <a:buClr>
                <a:srgbClr val="2F5496"/>
              </a:buClr>
              <a:buFont typeface="Arial"/>
              <a:buChar char="•"/>
            </a:pPr>
            <a:r>
              <a:rPr sz="2000" b="0" i="0">
                <a:solidFill>
                  <a:srgbClr val="0C3571"/>
                </a:solidFill>
                <a:latin typeface="Times New Roman"/>
                <a:ea typeface="Times New Roman"/>
                <a:cs typeface="Times New Roman"/>
                <a:sym typeface="Times New Roman"/>
              </a:rPr>
              <a:t>The dataset has 1,000 hourly records with numerical and categorical features, including engineered features such as Efficiency_Score, Temperature_Pressure_Ratio, Total_Cycle_Time and Machine_Utilization.</a:t>
            </a:r>
          </a:p>
          <a:p>
            <a:pPr algn="just" marL="285750" indent="-285750">
              <a:spcAft>
                <a:spcPts val="1100"/>
              </a:spcAft>
              <a:buClr>
                <a:srgbClr val="2F5496"/>
              </a:buClr>
              <a:buFont typeface="Arial"/>
              <a:buChar char="•"/>
            </a:pPr>
            <a:r>
              <a:rPr sz="2000" b="0" i="0">
                <a:solidFill>
                  <a:srgbClr val="0C3571"/>
                </a:solidFill>
                <a:latin typeface="Times New Roman"/>
                <a:ea typeface="Times New Roman"/>
                <a:cs typeface="Times New Roman"/>
                <a:sym typeface="Times New Roman"/>
              </a:rPr>
              <a:t>A complete ML pipeline is built: timestamp processing, median imputation, one-hot encoding, standard scaling, an 80/20 train-test split and Linear Regression training.</a:t>
            </a:r>
          </a:p>
          <a:p>
            <a:pPr algn="just" marL="285750" indent="-285750">
              <a:spcAft>
                <a:spcPts val="1100"/>
              </a:spcAft>
              <a:buClr>
                <a:srgbClr val="2F5496"/>
              </a:buClr>
              <a:buFont typeface="Arial"/>
              <a:buChar char="•"/>
            </a:pPr>
            <a:r>
              <a:rPr sz="2000" b="0" i="0">
                <a:solidFill>
                  <a:srgbClr val="0C3571"/>
                </a:solidFill>
                <a:latin typeface="Times New Roman"/>
                <a:ea typeface="Times New Roman"/>
                <a:cs typeface="Times New Roman"/>
                <a:sym typeface="Times New Roman"/>
              </a:rPr>
              <a:t>On the test set the model achieves R² = 0.906, RMSE = 3.51 and MAE = 2.72 parts/hour; the model, scaler and feature list are saved for deployment.</a:t>
            </a:r>
          </a:p>
          <a:p>
            <a:pPr algn="just" marL="285750" indent="-285750">
              <a:spcAft>
                <a:spcPts val="1100"/>
              </a:spcAft>
              <a:buClr>
                <a:srgbClr val="2F5496"/>
              </a:buClr>
              <a:buFont typeface="Arial"/>
              <a:buChar char="•"/>
            </a:pPr>
            <a:r>
              <a:rPr sz="2000" b="0" i="0">
                <a:solidFill>
                  <a:srgbClr val="0C3571"/>
                </a:solidFill>
                <a:latin typeface="Times New Roman"/>
                <a:ea typeface="Times New Roman"/>
                <a:cs typeface="Times New Roman"/>
                <a:sym typeface="Times New Roman"/>
              </a:rPr>
              <a:t>The model is served through a FastAPI prediction endpoint and containerized with Docker, helping optimize machine settings, improve scheduling and detect underperforming machines.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Data Loading</a:t>
            </a:r>
          </a:p>
        </p:txBody>
      </p:sp>
      <p:sp>
        <p:nvSpPr>
          <p:cNvPr id="4" name="TextBox 3"/>
          <p:cNvSpPr txBox="1"/>
          <p:nvPr/>
        </p:nvSpPr>
        <p:spPr>
          <a:xfrm>
            <a:off x="925275" y="1450000"/>
            <a:ext cx="10300000" cy="4900000"/>
          </a:xfrm>
          <a:prstGeom prst="rect">
            <a:avLst/>
          </a:prstGeom>
          <a:noFill/>
        </p:spPr>
        <p:txBody>
          <a:bodyPr wrap="square" anchor="t">
            <a:spAutoFit/>
          </a:bodyPr>
          <a:lstStyle/>
          <a:p>
            <a:pPr algn="l" marL="285750" indent="-285750">
              <a:spcAft>
                <a:spcPts val="900"/>
              </a:spcAft>
              <a:buClr>
                <a:srgbClr val="2F5496"/>
              </a:buClr>
              <a:buFont typeface="Arial"/>
              <a:buChar char="•"/>
            </a:pPr>
            <a:r>
              <a:rPr sz="2200" b="1" i="0">
                <a:solidFill>
                  <a:srgbClr val="0C3571"/>
                </a:solidFill>
                <a:latin typeface="Times New Roman"/>
                <a:ea typeface="Times New Roman"/>
                <a:cs typeface="Times New Roman"/>
                <a:sym typeface="Times New Roman"/>
              </a:rPr>
              <a:t>Dataset: </a:t>
            </a:r>
            <a:r>
              <a:rPr sz="2200" b="0" i="0">
                <a:solidFill>
                  <a:srgbClr val="0C3571"/>
                </a:solidFill>
                <a:latin typeface="Times New Roman"/>
                <a:ea typeface="Times New Roman"/>
                <a:cs typeface="Times New Roman"/>
                <a:sym typeface="Times New Roman"/>
              </a:rPr>
              <a:t>manufacturing_dataset_1000_samples.csv, loaded with pandas</a:t>
            </a:r>
          </a:p>
          <a:p>
            <a:pPr algn="l" marL="285750" indent="-285750">
              <a:spcAft>
                <a:spcPts val="900"/>
              </a:spcAft>
              <a:buClr>
                <a:srgbClr val="2F5496"/>
              </a:buClr>
              <a:buFont typeface="Arial"/>
              <a:buChar char="•"/>
            </a:pPr>
            <a:r>
              <a:rPr sz="2200" b="1" i="0">
                <a:solidFill>
                  <a:srgbClr val="0C3571"/>
                </a:solidFill>
                <a:latin typeface="Times New Roman"/>
                <a:ea typeface="Times New Roman"/>
                <a:cs typeface="Times New Roman"/>
                <a:sym typeface="Times New Roman"/>
              </a:rPr>
              <a:t>Size: </a:t>
            </a:r>
            <a:r>
              <a:rPr sz="2200" b="0" i="0">
                <a:solidFill>
                  <a:srgbClr val="0C3571"/>
                </a:solidFill>
                <a:latin typeface="Times New Roman"/>
                <a:ea typeface="Times New Roman"/>
                <a:cs typeface="Times New Roman"/>
                <a:sym typeface="Times New Roman"/>
              </a:rPr>
              <a:t>1,000 hourly records × 19 columns (Timestamp, 17 features, target)</a:t>
            </a:r>
          </a:p>
          <a:p>
            <a:pPr algn="l" marL="285750" indent="-285750">
              <a:spcAft>
                <a:spcPts val="900"/>
              </a:spcAft>
              <a:buClr>
                <a:srgbClr val="2F5496"/>
              </a:buClr>
              <a:buFont typeface="Arial"/>
              <a:buChar char="•"/>
            </a:pPr>
            <a:r>
              <a:rPr sz="2200" b="1" i="0">
                <a:solidFill>
                  <a:srgbClr val="0C3571"/>
                </a:solidFill>
                <a:latin typeface="Times New Roman"/>
                <a:ea typeface="Times New Roman"/>
                <a:cs typeface="Times New Roman"/>
                <a:sym typeface="Times New Roman"/>
              </a:rPr>
              <a:t>Target: </a:t>
            </a:r>
            <a:r>
              <a:rPr sz="2200" b="0" i="0">
                <a:solidFill>
                  <a:srgbClr val="0C3571"/>
                </a:solidFill>
                <a:latin typeface="Times New Roman"/>
                <a:ea typeface="Times New Roman"/>
                <a:cs typeface="Times New Roman"/>
                <a:sym typeface="Times New Roman"/>
              </a:rPr>
              <a:t>Parts_Per_Hour (parts produced per hour)</a:t>
            </a:r>
          </a:p>
          <a:p>
            <a:pPr algn="l" marL="285750" indent="-285750">
              <a:spcAft>
                <a:spcPts val="900"/>
              </a:spcAft>
              <a:buClr>
                <a:srgbClr val="2F5496"/>
              </a:buClr>
              <a:buFont typeface="Arial"/>
              <a:buChar char="•"/>
            </a:pPr>
            <a:r>
              <a:rPr sz="2200" b="1" i="0">
                <a:solidFill>
                  <a:srgbClr val="0C3571"/>
                </a:solidFill>
                <a:latin typeface="Times New Roman"/>
                <a:ea typeface="Times New Roman"/>
                <a:cs typeface="Times New Roman"/>
                <a:sym typeface="Times New Roman"/>
              </a:rPr>
              <a:t>Missing values: </a:t>
            </a:r>
            <a:r>
              <a:rPr sz="2200" b="0" i="0">
                <a:solidFill>
                  <a:srgbClr val="0C3571"/>
                </a:solidFill>
                <a:latin typeface="Times New Roman"/>
                <a:ea typeface="Times New Roman"/>
                <a:cs typeface="Times New Roman"/>
                <a:sym typeface="Times New Roman"/>
              </a:rPr>
              <a:t>20 each in Material_Viscosity, Ambient_Temperature and Operator_Experience</a:t>
            </a:r>
          </a:p>
          <a:p>
            <a:pPr algn="l" marL="285750" indent="-285750">
              <a:spcAft>
                <a:spcPts val="900"/>
              </a:spcAft>
              <a:buClr>
                <a:srgbClr val="2F5496"/>
              </a:buClr>
              <a:buFont typeface="Arial"/>
              <a:buChar char="•"/>
            </a:pPr>
            <a:r>
              <a:rPr sz="2200" b="1" i="0">
                <a:solidFill>
                  <a:srgbClr val="0C3571"/>
                </a:solidFill>
                <a:latin typeface="Times New Roman"/>
                <a:ea typeface="Times New Roman"/>
                <a:cs typeface="Times New Roman"/>
                <a:sym typeface="Times New Roman"/>
              </a:rPr>
              <a:t>Feature groups:</a:t>
            </a:r>
          </a:p>
          <a:p>
            <a:pPr algn="l" marL="628650" indent="-285750">
              <a:spcAft>
                <a:spcPts val="500"/>
              </a:spcAft>
              <a:buClr>
                <a:srgbClr val="2F5496"/>
              </a:buClr>
              <a:buFont typeface="Arial"/>
              <a:buChar char="–"/>
            </a:pPr>
            <a:r>
              <a:rPr sz="1900" b="0" i="0">
                <a:solidFill>
                  <a:srgbClr val="0C3571"/>
                </a:solidFill>
                <a:latin typeface="Times New Roman"/>
                <a:ea typeface="Times New Roman"/>
                <a:cs typeface="Times New Roman"/>
                <a:sym typeface="Times New Roman"/>
              </a:rPr>
              <a:t>Machine settings: Injection_Temperature, Injection_Pressure, Cycle_Time, Cooling_Time</a:t>
            </a:r>
          </a:p>
          <a:p>
            <a:pPr algn="l" marL="628650" indent="-285750">
              <a:spcAft>
                <a:spcPts val="500"/>
              </a:spcAft>
              <a:buClr>
                <a:srgbClr val="2F5496"/>
              </a:buClr>
              <a:buFont typeface="Arial"/>
              <a:buChar char="–"/>
            </a:pPr>
            <a:r>
              <a:rPr sz="1900" b="0" i="0">
                <a:solidFill>
                  <a:srgbClr val="0C3571"/>
                </a:solidFill>
                <a:latin typeface="Times New Roman"/>
                <a:ea typeface="Times New Roman"/>
                <a:cs typeface="Times New Roman"/>
                <a:sym typeface="Times New Roman"/>
              </a:rPr>
              <a:t>Material &amp; environment: Material_Viscosity, Material_Grade, Ambient_Temperature</a:t>
            </a:r>
          </a:p>
          <a:p>
            <a:pPr algn="l" marL="628650" indent="-285750">
              <a:spcAft>
                <a:spcPts val="500"/>
              </a:spcAft>
              <a:buClr>
                <a:srgbClr val="2F5496"/>
              </a:buClr>
              <a:buFont typeface="Arial"/>
              <a:buChar char="–"/>
            </a:pPr>
            <a:r>
              <a:rPr sz="1900" b="0" i="0">
                <a:solidFill>
                  <a:srgbClr val="0C3571"/>
                </a:solidFill>
                <a:latin typeface="Times New Roman"/>
                <a:ea typeface="Times New Roman"/>
                <a:cs typeface="Times New Roman"/>
                <a:sym typeface="Times New Roman"/>
              </a:rPr>
              <a:t>Human &amp; equipment: Machine_Age, Machine_Type, Operator_Experience, Maintenance_Hours</a:t>
            </a:r>
          </a:p>
          <a:p>
            <a:pPr algn="l" marL="628650" indent="-285750">
              <a:spcAft>
                <a:spcPts val="500"/>
              </a:spcAft>
              <a:buClr>
                <a:srgbClr val="2F5496"/>
              </a:buClr>
              <a:buFont typeface="Arial"/>
              <a:buChar char="–"/>
            </a:pPr>
            <a:r>
              <a:rPr sz="1900" b="0" i="0">
                <a:solidFill>
                  <a:srgbClr val="0C3571"/>
                </a:solidFill>
                <a:latin typeface="Times New Roman"/>
                <a:ea typeface="Times New Roman"/>
                <a:cs typeface="Times New Roman"/>
                <a:sym typeface="Times New Roman"/>
              </a:rPr>
              <a:t>Context: Shift, Day_of_Week, Timestamp</a:t>
            </a:r>
          </a:p>
          <a:p>
            <a:pPr algn="l" marL="628650" indent="-285750">
              <a:spcAft>
                <a:spcPts val="500"/>
              </a:spcAft>
              <a:buClr>
                <a:srgbClr val="2F5496"/>
              </a:buClr>
              <a:buFont typeface="Arial"/>
              <a:buChar char="–"/>
            </a:pPr>
            <a:r>
              <a:rPr sz="1900" b="0" i="0">
                <a:solidFill>
                  <a:srgbClr val="0C3571"/>
                </a:solidFill>
                <a:latin typeface="Times New Roman"/>
                <a:ea typeface="Times New Roman"/>
                <a:cs typeface="Times New Roman"/>
                <a:sym typeface="Times New Roman"/>
              </a:rPr>
              <a:t>Engineered: Temperature_Pressure_Ratio, Total_Cycle_Time, Efficiency_Score, Machine_Utilization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Data Exploration &amp; Understanding</a:t>
            </a:r>
          </a:p>
        </p:txBody>
      </p:sp>
      <p:sp>
        <p:nvSpPr>
          <p:cNvPr id="4" name="TextBox 3"/>
          <p:cNvSpPr txBox="1"/>
          <p:nvPr/>
        </p:nvSpPr>
        <p:spPr>
          <a:xfrm>
            <a:off x="925275" y="1300000"/>
            <a:ext cx="10300000" cy="5300000"/>
          </a:xfrm>
          <a:prstGeom prst="rect">
            <a:avLst/>
          </a:prstGeom>
          <a:noFill/>
        </p:spPr>
        <p:txBody>
          <a:bodyPr wrap="square" anchor="t">
            <a:spAutoFit/>
          </a:bodyPr>
          <a:lstStyle/>
          <a:p>
            <a:pPr algn="just" marL="0" indent="0">
              <a:spcAft>
                <a:spcPts val="1300"/>
              </a:spcAft>
              <a:buNone/>
            </a:pPr>
            <a:r>
              <a:rPr sz="2100" b="1" i="0">
                <a:solidFill>
                  <a:srgbClr val="0C3571"/>
                </a:solidFill>
                <a:latin typeface="Times New Roman"/>
                <a:ea typeface="Times New Roman"/>
                <a:cs typeface="Times New Roman"/>
                <a:sym typeface="Times New Roman"/>
              </a:rPr>
              <a:t>Dataset Source &amp; Size: </a:t>
            </a:r>
            <a:r>
              <a:rPr sz="2100" b="0" i="0">
                <a:solidFill>
                  <a:srgbClr val="0C3571"/>
                </a:solidFill>
                <a:latin typeface="Times New Roman"/>
                <a:ea typeface="Times New Roman"/>
                <a:cs typeface="Times New Roman"/>
                <a:sym typeface="Times New Roman"/>
              </a:rPr>
              <a:t>manufacturing_dataset_1000_samples; 1,000 records, 19 columns. Target Parts_Per_Hour ranges from 5.0 to 68.6 (mean ≈ 29.3).</a:t>
            </a:r>
          </a:p>
          <a:p>
            <a:pPr algn="just" marL="0" indent="0">
              <a:spcAft>
                <a:spcPts val="1300"/>
              </a:spcAft>
              <a:buNone/>
            </a:pPr>
            <a:r>
              <a:rPr sz="2100" b="1" i="0">
                <a:solidFill>
                  <a:srgbClr val="0C3571"/>
                </a:solidFill>
                <a:latin typeface="Times New Roman"/>
                <a:ea typeface="Times New Roman"/>
                <a:cs typeface="Times New Roman"/>
                <a:sym typeface="Times New Roman"/>
              </a:rPr>
              <a:t>Machine Parameters: </a:t>
            </a:r>
            <a:r>
              <a:rPr sz="2100" b="0" i="0">
                <a:solidFill>
                  <a:srgbClr val="0C3571"/>
                </a:solidFill>
                <a:latin typeface="Times New Roman"/>
                <a:ea typeface="Times New Roman"/>
                <a:cs typeface="Times New Roman"/>
                <a:sym typeface="Times New Roman"/>
              </a:rPr>
              <a:t>Injection_Temperature (180–300 °C), Injection_Pressure (80–150 bar), Cycle_Time (16.3–60 sec), Cooling_Time (8–19.9 sec).</a:t>
            </a:r>
          </a:p>
          <a:p>
            <a:pPr algn="just" marL="0" indent="0">
              <a:spcAft>
                <a:spcPts val="1300"/>
              </a:spcAft>
              <a:buNone/>
            </a:pPr>
            <a:r>
              <a:rPr sz="2100" b="1" i="0">
                <a:solidFill>
                  <a:srgbClr val="0C3571"/>
                </a:solidFill>
                <a:latin typeface="Times New Roman"/>
                <a:ea typeface="Times New Roman"/>
                <a:cs typeface="Times New Roman"/>
                <a:sym typeface="Times New Roman"/>
              </a:rPr>
              <a:t>Material &amp; Environmental Features: </a:t>
            </a:r>
            <a:r>
              <a:rPr sz="2100" b="0" i="0">
                <a:solidFill>
                  <a:srgbClr val="0C3571"/>
                </a:solidFill>
                <a:latin typeface="Times New Roman"/>
                <a:ea typeface="Times New Roman"/>
                <a:cs typeface="Times New Roman"/>
                <a:sym typeface="Times New Roman"/>
              </a:rPr>
              <a:t>Material_Viscosity (104.6–1000), Ambient_Temperature (18–28 °C).</a:t>
            </a:r>
          </a:p>
          <a:p>
            <a:pPr algn="just" marL="0" indent="0">
              <a:spcAft>
                <a:spcPts val="1300"/>
              </a:spcAft>
              <a:buNone/>
            </a:pPr>
            <a:r>
              <a:rPr sz="2100" b="1" i="0">
                <a:solidFill>
                  <a:srgbClr val="0C3571"/>
                </a:solidFill>
                <a:latin typeface="Times New Roman"/>
                <a:ea typeface="Times New Roman"/>
                <a:cs typeface="Times New Roman"/>
                <a:sym typeface="Times New Roman"/>
              </a:rPr>
              <a:t>Equipment &amp; Operator Features: </a:t>
            </a:r>
            <a:r>
              <a:rPr sz="2100" b="0" i="0">
                <a:solidFill>
                  <a:srgbClr val="0C3571"/>
                </a:solidFill>
                <a:latin typeface="Times New Roman"/>
                <a:ea typeface="Times New Roman"/>
                <a:cs typeface="Times New Roman"/>
                <a:sym typeface="Times New Roman"/>
              </a:rPr>
              <a:t>Machine_Age (1–15 years), Operator_Experience (1–120 months), Maintenance_Hours (26–500 hours).</a:t>
            </a:r>
          </a:p>
          <a:p>
            <a:pPr algn="just" marL="0" indent="0">
              <a:spcAft>
                <a:spcPts val="1300"/>
              </a:spcAft>
              <a:buNone/>
            </a:pPr>
            <a:r>
              <a:rPr sz="2100" b="1" i="0">
                <a:solidFill>
                  <a:srgbClr val="0C3571"/>
                </a:solidFill>
                <a:latin typeface="Times New Roman"/>
                <a:ea typeface="Times New Roman"/>
                <a:cs typeface="Times New Roman"/>
                <a:sym typeface="Times New Roman"/>
              </a:rPr>
              <a:t>Categorical Features: </a:t>
            </a:r>
            <a:r>
              <a:rPr sz="2100" b="0" i="0">
                <a:solidFill>
                  <a:srgbClr val="0C3571"/>
                </a:solidFill>
                <a:latin typeface="Times New Roman"/>
                <a:ea typeface="Times New Roman"/>
                <a:cs typeface="Times New Roman"/>
                <a:sym typeface="Times New Roman"/>
              </a:rPr>
              <a:t>Shift (Day / Evening / Night), Machine_Type (Type_A / B / C), Material_Grade (Economy / Standard / Premium), Day_of_Week (Monday–Sunday).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Exploratory Data Analysis: Correlation Matrix</a:t>
            </a:r>
          </a:p>
        </p:txBody>
      </p:sp>
      <p:pic>
        <p:nvPicPr>
          <p:cNvPr id="4" name="Picture 3" descr="c2_corr.png"/>
          <p:cNvPicPr>
            <a:picLocks noChangeAspect="1"/>
          </p:cNvPicPr>
          <p:nvPr/>
        </p:nvPicPr>
        <p:blipFill>
          <a:blip r:embed="rId3"/>
          <a:stretch>
            <a:fillRect/>
          </a:stretch>
        </p:blipFill>
        <p:spPr>
          <a:xfrm>
            <a:off x="600000" y="1250000"/>
            <a:ext cx="6599999" cy="4994594"/>
          </a:xfrm>
          <a:prstGeom prst="rect">
            <a:avLst/>
          </a:prstGeom>
        </p:spPr>
      </p:pic>
      <p:sp>
        <p:nvSpPr>
          <p:cNvPr id="5" name="TextBox 4"/>
          <p:cNvSpPr txBox="1"/>
          <p:nvPr/>
        </p:nvSpPr>
        <p:spPr>
          <a:xfrm>
            <a:off x="7300000" y="1450000"/>
            <a:ext cx="4500000" cy="5000000"/>
          </a:xfrm>
          <a:prstGeom prst="rect">
            <a:avLst/>
          </a:prstGeom>
          <a:noFill/>
        </p:spPr>
        <p:txBody>
          <a:bodyPr wrap="square" anchor="t">
            <a:spAutoFit/>
          </a:bodyPr>
          <a:lstStyle/>
          <a:p>
            <a:pPr algn="l" marL="285750" indent="-285750">
              <a:spcAft>
                <a:spcPts val="1000"/>
              </a:spcAft>
              <a:buClr>
                <a:srgbClr val="2F5496"/>
              </a:buClr>
              <a:buFont typeface="Arial"/>
              <a:buChar char="•"/>
            </a:pPr>
            <a:r>
              <a:rPr sz="1700" b="1" i="0">
                <a:solidFill>
                  <a:srgbClr val="0C3571"/>
                </a:solidFill>
                <a:latin typeface="Times New Roman"/>
                <a:ea typeface="Times New Roman"/>
                <a:cs typeface="Times New Roman"/>
                <a:sym typeface="Times New Roman"/>
              </a:rPr>
              <a:t>Cycle_Time</a:t>
            </a:r>
            <a:r>
              <a:rPr sz="1700" b="0" i="0">
                <a:solidFill>
                  <a:srgbClr val="0C3571"/>
                </a:solidFill>
                <a:latin typeface="Times New Roman"/>
                <a:ea typeface="Times New Roman"/>
                <a:cs typeface="Times New Roman"/>
                <a:sym typeface="Times New Roman"/>
              </a:rPr>
              <a:t> (r = −0.82) and </a:t>
            </a:r>
            <a:r>
              <a:rPr sz="1700" b="1" i="0">
                <a:solidFill>
                  <a:srgbClr val="0C3571"/>
                </a:solidFill>
                <a:latin typeface="Times New Roman"/>
                <a:ea typeface="Times New Roman"/>
                <a:cs typeface="Times New Roman"/>
                <a:sym typeface="Times New Roman"/>
              </a:rPr>
              <a:t>Total_Cycle_Time</a:t>
            </a:r>
            <a:r>
              <a:rPr sz="1700" b="0" i="0">
                <a:solidFill>
                  <a:srgbClr val="0C3571"/>
                </a:solidFill>
                <a:latin typeface="Times New Roman"/>
                <a:ea typeface="Times New Roman"/>
                <a:cs typeface="Times New Roman"/>
                <a:sym typeface="Times New Roman"/>
              </a:rPr>
              <a:t> (−0.79) are the strongest drivers of output</a:t>
            </a:r>
          </a:p>
          <a:p>
            <a:pPr algn="l" marL="285750" indent="-285750">
              <a:spcAft>
                <a:spcPts val="1000"/>
              </a:spcAft>
              <a:buClr>
                <a:srgbClr val="2F5496"/>
              </a:buClr>
              <a:buFont typeface="Arial"/>
              <a:buChar char="•"/>
            </a:pPr>
            <a:r>
              <a:rPr sz="1700" b="0" i="0">
                <a:solidFill>
                  <a:srgbClr val="0C3571"/>
                </a:solidFill>
                <a:latin typeface="Times New Roman"/>
                <a:ea typeface="Times New Roman"/>
                <a:cs typeface="Times New Roman"/>
                <a:sym typeface="Times New Roman"/>
              </a:rPr>
              <a:t>Operator_Experience (+0.30) and Efficiency_Score (+0.29) lift output; Machine_Age (−0.18) lowers it</a:t>
            </a:r>
          </a:p>
          <a:p>
            <a:pPr algn="l" marL="285750" indent="-285750">
              <a:spcAft>
                <a:spcPts val="1000"/>
              </a:spcAft>
              <a:buClr>
                <a:srgbClr val="2F5496"/>
              </a:buClr>
              <a:buFont typeface="Arial"/>
              <a:buChar char="•"/>
            </a:pPr>
            <a:r>
              <a:rPr sz="1700" b="0" i="0">
                <a:solidFill>
                  <a:srgbClr val="0C3571"/>
                </a:solidFill>
                <a:latin typeface="Times New Roman"/>
                <a:ea typeface="Times New Roman"/>
                <a:cs typeface="Times New Roman"/>
                <a:sym typeface="Times New Roman"/>
              </a:rPr>
              <a:t>Engineered features are highly correlated with their sources (e.g. Cycle_Time vs Total_Cycle_Time 0.95, Operator_Experience vs Efficiency_Score 0.99)</a:t>
            </a:r>
          </a:p>
          <a:p>
            <a:pPr algn="l" marL="285750" indent="-285750">
              <a:spcAft>
                <a:spcPts val="1000"/>
              </a:spcAft>
              <a:buClr>
                <a:srgbClr val="2F5496"/>
              </a:buClr>
              <a:buFont typeface="Arial"/>
              <a:buChar char="•"/>
            </a:pPr>
            <a:r>
              <a:rPr sz="1700" b="0" i="0">
                <a:solidFill>
                  <a:srgbClr val="0C3571"/>
                </a:solidFill>
                <a:latin typeface="Times New Roman"/>
                <a:ea typeface="Times New Roman"/>
                <a:cs typeface="Times New Roman"/>
                <a:sym typeface="Times New Roman"/>
              </a:rPr>
              <a:t>Cooling_Time and Ambient_Temperature show almost no direct correlation with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Exploratory Data Analysis: Scatter Plots</a:t>
            </a:r>
          </a:p>
        </p:txBody>
      </p:sp>
      <p:pic>
        <p:nvPicPr>
          <p:cNvPr id="4" name="Picture 3" descr="c3_scatter.png"/>
          <p:cNvPicPr>
            <a:picLocks noChangeAspect="1"/>
          </p:cNvPicPr>
          <p:nvPr/>
        </p:nvPicPr>
        <p:blipFill>
          <a:blip r:embed="rId3"/>
          <a:stretch>
            <a:fillRect/>
          </a:stretch>
        </p:blipFill>
        <p:spPr>
          <a:xfrm>
            <a:off x="936386" y="1350000"/>
            <a:ext cx="10277777" cy="3700000"/>
          </a:xfrm>
          <a:prstGeom prst="rect">
            <a:avLst/>
          </a:prstGeom>
        </p:spPr>
      </p:pic>
      <p:sp>
        <p:nvSpPr>
          <p:cNvPr id="5" name="TextBox 4"/>
          <p:cNvSpPr txBox="1"/>
          <p:nvPr/>
        </p:nvSpPr>
        <p:spPr>
          <a:xfrm>
            <a:off x="925275" y="5100000"/>
            <a:ext cx="10300000" cy="1300000"/>
          </a:xfrm>
          <a:prstGeom prst="rect">
            <a:avLst/>
          </a:prstGeom>
          <a:noFill/>
        </p:spPr>
        <p:txBody>
          <a:bodyPr wrap="square" anchor="t">
            <a:spAutoFit/>
          </a:bodyPr>
          <a:lstStyle/>
          <a:p>
            <a:pPr algn="l" marL="285750" indent="-285750">
              <a:spcAft>
                <a:spcPts val="600"/>
              </a:spcAft>
              <a:buClr>
                <a:srgbClr val="2F5496"/>
              </a:buClr>
              <a:buFont typeface="Arial"/>
              <a:buChar char="•"/>
            </a:pPr>
            <a:r>
              <a:rPr sz="1800" b="0" i="0">
                <a:solidFill>
                  <a:srgbClr val="0C3571"/>
                </a:solidFill>
                <a:latin typeface="Times New Roman"/>
                <a:ea typeface="Times New Roman"/>
                <a:cs typeface="Times New Roman"/>
                <a:sym typeface="Times New Roman"/>
              </a:rPr>
              <a:t>Shorter cycle times → higher output (strong negative trend, r = −0.82)</a:t>
            </a:r>
          </a:p>
          <a:p>
            <a:pPr algn="l" marL="285750" indent="-285750">
              <a:spcAft>
                <a:spcPts val="600"/>
              </a:spcAft>
              <a:buClr>
                <a:srgbClr val="2F5496"/>
              </a:buClr>
              <a:buFont typeface="Arial"/>
              <a:buChar char="•"/>
            </a:pPr>
            <a:r>
              <a:rPr sz="1800" b="0" i="0">
                <a:solidFill>
                  <a:srgbClr val="0C3571"/>
                </a:solidFill>
                <a:latin typeface="Times New Roman"/>
                <a:ea typeface="Times New Roman"/>
                <a:cs typeface="Times New Roman"/>
                <a:sym typeface="Times New Roman"/>
              </a:rPr>
              <a:t>Higher operator experience → better performance (r = +0.30)</a:t>
            </a:r>
          </a:p>
          <a:p>
            <a:pPr algn="l" marL="285750" indent="-285750">
              <a:spcAft>
                <a:spcPts val="600"/>
              </a:spcAft>
              <a:buClr>
                <a:srgbClr val="2F5496"/>
              </a:buClr>
              <a:buFont typeface="Arial"/>
              <a:buChar char="•"/>
            </a:pPr>
            <a:r>
              <a:rPr sz="1800" b="0" i="0">
                <a:solidFill>
                  <a:srgbClr val="0C3571"/>
                </a:solidFill>
                <a:latin typeface="Times New Roman"/>
                <a:ea typeface="Times New Roman"/>
                <a:cs typeface="Times New Roman"/>
                <a:sym typeface="Times New Roman"/>
              </a:rPr>
              <a:t>Higher efficiency score → higher output (r = +0.29)</a:t>
            </a:r>
          </a:p>
          <a:p>
            <a:pPr algn="l" marL="285750" indent="-285750">
              <a:spcAft>
                <a:spcPts val="600"/>
              </a:spcAft>
              <a:buClr>
                <a:srgbClr val="2F5496"/>
              </a:buClr>
              <a:buFont typeface="Arial"/>
              <a:buChar char="•"/>
            </a:pPr>
            <a:r>
              <a:rPr sz="1800" b="0" i="0">
                <a:solidFill>
                  <a:srgbClr val="0C3571"/>
                </a:solidFill>
                <a:latin typeface="Times New Roman"/>
                <a:ea typeface="Times New Roman"/>
                <a:cs typeface="Times New Roman"/>
                <a:sym typeface="Times New Roman"/>
              </a:rPr>
              <a:t>Day shift, Type_A machines and Premium material grade have the highest average output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Data Preprocessing &amp; Feature Engineering</a:t>
            </a:r>
          </a:p>
        </p:txBody>
      </p:sp>
      <p:sp>
        <p:nvSpPr>
          <p:cNvPr id="4" name="TextBox 3"/>
          <p:cNvSpPr txBox="1"/>
          <p:nvPr/>
        </p:nvSpPr>
        <p:spPr>
          <a:xfrm>
            <a:off x="925275" y="1250000"/>
            <a:ext cx="10300000" cy="4900000"/>
          </a:xfrm>
          <a:prstGeom prst="rect">
            <a:avLst/>
          </a:prstGeom>
          <a:noFill/>
        </p:spPr>
        <p:txBody>
          <a:bodyPr wrap="square" anchor="t">
            <a:spAutoFit/>
          </a:bodyPr>
          <a:lstStyle/>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1. Timestamp Processing:</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Extracted Hour from Timestamp as a new time-based feature</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Dropped the raw Timestamp column</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2. Handling Missing Values:</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Material_Viscosity, Ambient_Temperature and Operator_Experience had 20 missing values each</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Filled with the median of each column</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3. Encoding Categorical Variables:</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One-Hot Encoding (drop_first=True) on Shift, Machine_Type, Material_Grade, Day_of_Week → 26 model features</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4. Splitting Data:</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80% training (800 rows) and 20% test (200 rows) with random_state=42</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5. Scaling Features:</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StandardScaler fitted on training data only, then applied to both sets to avoid data leakage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Model Building &amp; Training</a:t>
            </a:r>
          </a:p>
        </p:txBody>
      </p:sp>
      <p:sp>
        <p:nvSpPr>
          <p:cNvPr id="4" name="TextBox 3"/>
          <p:cNvSpPr txBox="1"/>
          <p:nvPr/>
        </p:nvSpPr>
        <p:spPr>
          <a:xfrm>
            <a:off x="925275" y="1250000"/>
            <a:ext cx="10300000" cy="4900000"/>
          </a:xfrm>
          <a:prstGeom prst="rect">
            <a:avLst/>
          </a:prstGeom>
          <a:noFill/>
        </p:spPr>
        <p:txBody>
          <a:bodyPr wrap="square" anchor="t">
            <a:spAutoFit/>
          </a:bodyPr>
          <a:lstStyle/>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1. Linear Regression Model:</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Fits a straight-line relationship between the 26 input features and Parts_Per_Hour</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Implemented with scikit-learn LinearRegression</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2. Why Linear Regression:</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Coefficients are easy to interpret, showing how each setting changes output</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Fast and lightweight, which suits real-time API deployment</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3. Training the Model:</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Trained on 800 scaled training samples</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Tested on 200 unseen test samples</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4. Saving Artifacts (joblib):</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linear_regression_model.pkl, scaler.pkl and feature_names.pkl</a:t>
            </a:r>
          </a:p>
          <a:p>
            <a:pPr algn="l" marL="0" indent="0">
              <a:spcBef>
                <a:spcPts val="400"/>
              </a:spcBef>
              <a:spcAft>
                <a:spcPts val="600"/>
              </a:spcAft>
              <a:buNone/>
            </a:pPr>
            <a:r>
              <a:rPr sz="2000" b="1" i="0">
                <a:solidFill>
                  <a:srgbClr val="0C3571"/>
                </a:solidFill>
                <a:latin typeface="Times New Roman"/>
                <a:ea typeface="Times New Roman"/>
                <a:cs typeface="Times New Roman"/>
                <a:sym typeface="Times New Roman"/>
              </a:rPr>
              <a:t>5. Reproducibility:</a:t>
            </a:r>
          </a:p>
          <a:p>
            <a:pPr algn="l" marL="628650" indent="-285750">
              <a:spcAft>
                <a:spcPts val="200"/>
              </a:spcAft>
              <a:buClr>
                <a:srgbClr val="2F5496"/>
              </a:buClr>
              <a:buFont typeface="Arial"/>
              <a:buChar char="–"/>
            </a:pPr>
            <a:r>
              <a:rPr sz="1700" b="0" i="0">
                <a:solidFill>
                  <a:srgbClr val="0C3571"/>
                </a:solidFill>
                <a:latin typeface="Times New Roman"/>
                <a:ea typeface="Times New Roman"/>
                <a:cs typeface="Times New Roman"/>
                <a:sym typeface="Times New Roman"/>
              </a:rPr>
              <a:t>Fixed random_state=42 so the split and results can be repeated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Model Evaluation &amp; Performance Analysis</a:t>
            </a:r>
          </a:p>
        </p:txBody>
      </p:sp>
      <p:graphicFrame>
        <p:nvGraphicFramePr>
          <p:cNvPr id="4" name="Table 3"/>
          <p:cNvGraphicFramePr>
            <a:graphicFrameLocks noGrp="1"/>
          </p:cNvGraphicFramePr>
          <p:nvPr/>
        </p:nvGraphicFramePr>
        <p:xfrm>
          <a:off x="925275" y="1450000"/>
          <a:ext cx="6500000" cy="3200000"/>
        </p:xfrm>
        <a:graphic>
          <a:graphicData uri="http://schemas.openxmlformats.org/drawingml/2006/table">
            <a:tbl>
              <a:tblPr firstRow="1" bandRow="1">
                <a:tableStyleId>{5C22544A-7EE6-4342-B048-85BDC9FD1C3A}</a:tableStyleId>
              </a:tblPr>
              <a:tblGrid>
                <a:gridCol w="1400000"/>
                <a:gridCol w="3700000"/>
                <a:gridCol w="1400000"/>
              </a:tblGrid>
              <a:tr h="640000">
                <a:tc>
                  <a:txBody>
                    <a:bodyPr/>
                    <a:lstStyle/>
                    <a:p>
                      <a:r>
                        <a:rPr sz="1900" b="1" i="0">
                          <a:solidFill>
                            <a:srgbClr val="FFFFFF"/>
                          </a:solidFill>
                          <a:latin typeface="Times New Roman"/>
                          <a:ea typeface="Times New Roman"/>
                          <a:cs typeface="Times New Roman"/>
                          <a:sym typeface="Times New Roman"/>
                        </a:rPr>
                        <a:t>Metric</a:t>
                      </a:r>
                    </a:p>
                  </a:txBody>
                  <a:tcPr anchor="ctr">
                    <a:solidFill>
                      <a:srgbClr val="2F5496"/>
                    </a:solidFill>
                  </a:tcPr>
                </a:tc>
                <a:tc>
                  <a:txBody>
                    <a:bodyPr/>
                    <a:lstStyle/>
                    <a:p>
                      <a:r>
                        <a:rPr sz="1900" b="1" i="0">
                          <a:solidFill>
                            <a:srgbClr val="FFFFFF"/>
                          </a:solidFill>
                          <a:latin typeface="Times New Roman"/>
                          <a:ea typeface="Times New Roman"/>
                          <a:cs typeface="Times New Roman"/>
                          <a:sym typeface="Times New Roman"/>
                        </a:rPr>
                        <a:t>Meaning</a:t>
                      </a:r>
                    </a:p>
                  </a:txBody>
                  <a:tcPr anchor="ctr">
                    <a:solidFill>
                      <a:srgbClr val="2F5496"/>
                    </a:solidFill>
                  </a:tcPr>
                </a:tc>
                <a:tc>
                  <a:txBody>
                    <a:bodyPr/>
                    <a:lstStyle/>
                    <a:p>
                      <a:pPr algn="ctr"/>
                      <a:r>
                        <a:rPr sz="1900" b="1" i="0">
                          <a:solidFill>
                            <a:srgbClr val="FFFFFF"/>
                          </a:solidFill>
                          <a:latin typeface="Times New Roman"/>
                          <a:ea typeface="Times New Roman"/>
                          <a:cs typeface="Times New Roman"/>
                          <a:sym typeface="Times New Roman"/>
                        </a:rPr>
                        <a:t>Test Value</a:t>
                      </a:r>
                    </a:p>
                  </a:txBody>
                  <a:tcPr anchor="ctr">
                    <a:solidFill>
                      <a:srgbClr val="2F5496"/>
                    </a:solidFill>
                  </a:tcPr>
                </a:tc>
              </a:tr>
              <a:tr h="640000">
                <a:tc>
                  <a:txBody>
                    <a:bodyPr/>
                    <a:lstStyle/>
                    <a:p>
                      <a:r>
                        <a:rPr sz="1900" b="1" i="0">
                          <a:solidFill>
                            <a:srgbClr val="0C3571"/>
                          </a:solidFill>
                          <a:latin typeface="Times New Roman"/>
                          <a:ea typeface="Times New Roman"/>
                          <a:cs typeface="Times New Roman"/>
                          <a:sym typeface="Times New Roman"/>
                        </a:rPr>
                        <a:t>R² Score</a:t>
                      </a:r>
                    </a:p>
                  </a:txBody>
                  <a:tcPr anchor="ctr">
                    <a:solidFill>
                      <a:srgbClr val="FFFFFF"/>
                    </a:solidFill>
                  </a:tcPr>
                </a:tc>
                <a:tc>
                  <a:txBody>
                    <a:bodyPr/>
                    <a:lstStyle/>
                    <a:p>
                      <a:r>
                        <a:rPr sz="1900" b="0" i="0">
                          <a:solidFill>
                            <a:srgbClr val="0C3571"/>
                          </a:solidFill>
                          <a:latin typeface="Times New Roman"/>
                          <a:ea typeface="Times New Roman"/>
                          <a:cs typeface="Times New Roman"/>
                          <a:sym typeface="Times New Roman"/>
                        </a:rPr>
                        <a:t>Share of output variance explained</a:t>
                      </a:r>
                    </a:p>
                  </a:txBody>
                  <a:tcPr anchor="ctr">
                    <a:solidFill>
                      <a:srgbClr val="FFFFFF"/>
                    </a:solidFill>
                  </a:tcPr>
                </a:tc>
                <a:tc>
                  <a:txBody>
                    <a:bodyPr/>
                    <a:lstStyle/>
                    <a:p>
                      <a:pPr algn="ctr"/>
                      <a:r>
                        <a:rPr sz="1900" b="0" i="0">
                          <a:solidFill>
                            <a:srgbClr val="0C3571"/>
                          </a:solidFill>
                          <a:latin typeface="Times New Roman"/>
                          <a:ea typeface="Times New Roman"/>
                          <a:cs typeface="Times New Roman"/>
                          <a:sym typeface="Times New Roman"/>
                        </a:rPr>
                        <a:t>0.9056</a:t>
                      </a:r>
                    </a:p>
                  </a:txBody>
                  <a:tcPr anchor="ctr">
                    <a:solidFill>
                      <a:srgbClr val="FFFFFF"/>
                    </a:solidFill>
                  </a:tcPr>
                </a:tc>
              </a:tr>
              <a:tr h="640000">
                <a:tc>
                  <a:txBody>
                    <a:bodyPr/>
                    <a:lstStyle/>
                    <a:p>
                      <a:r>
                        <a:rPr sz="1900" b="1" i="0">
                          <a:solidFill>
                            <a:srgbClr val="0C3571"/>
                          </a:solidFill>
                          <a:latin typeface="Times New Roman"/>
                          <a:ea typeface="Times New Roman"/>
                          <a:cs typeface="Times New Roman"/>
                          <a:sym typeface="Times New Roman"/>
                        </a:rPr>
                        <a:t>MSE</a:t>
                      </a:r>
                    </a:p>
                  </a:txBody>
                  <a:tcPr anchor="ctr">
                    <a:solidFill>
                      <a:srgbClr val="DDE6F4"/>
                    </a:solidFill>
                  </a:tcPr>
                </a:tc>
                <a:tc>
                  <a:txBody>
                    <a:bodyPr/>
                    <a:lstStyle/>
                    <a:p>
                      <a:r>
                        <a:rPr sz="1900" b="0" i="0">
                          <a:solidFill>
                            <a:srgbClr val="0C3571"/>
                          </a:solidFill>
                          <a:latin typeface="Times New Roman"/>
                          <a:ea typeface="Times New Roman"/>
                          <a:cs typeface="Times New Roman"/>
                          <a:sym typeface="Times New Roman"/>
                        </a:rPr>
                        <a:t>Mean squared error (large errors punished)</a:t>
                      </a:r>
                    </a:p>
                  </a:txBody>
                  <a:tcPr anchor="ctr">
                    <a:solidFill>
                      <a:srgbClr val="DDE6F4"/>
                    </a:solidFill>
                  </a:tcPr>
                </a:tc>
                <a:tc>
                  <a:txBody>
                    <a:bodyPr/>
                    <a:lstStyle/>
                    <a:p>
                      <a:pPr algn="ctr"/>
                      <a:r>
                        <a:rPr sz="1900" b="0" i="0">
                          <a:solidFill>
                            <a:srgbClr val="0C3571"/>
                          </a:solidFill>
                          <a:latin typeface="Times New Roman"/>
                          <a:ea typeface="Times New Roman"/>
                          <a:cs typeface="Times New Roman"/>
                          <a:sym typeface="Times New Roman"/>
                        </a:rPr>
                        <a:t>12.3150</a:t>
                      </a:r>
                    </a:p>
                  </a:txBody>
                  <a:tcPr anchor="ctr">
                    <a:solidFill>
                      <a:srgbClr val="DDE6F4"/>
                    </a:solidFill>
                  </a:tcPr>
                </a:tc>
              </a:tr>
              <a:tr h="640000">
                <a:tc>
                  <a:txBody>
                    <a:bodyPr/>
                    <a:lstStyle/>
                    <a:p>
                      <a:r>
                        <a:rPr sz="1900" b="1" i="0">
                          <a:solidFill>
                            <a:srgbClr val="0C3571"/>
                          </a:solidFill>
                          <a:latin typeface="Times New Roman"/>
                          <a:ea typeface="Times New Roman"/>
                          <a:cs typeface="Times New Roman"/>
                          <a:sym typeface="Times New Roman"/>
                        </a:rPr>
                        <a:t>RMSE</a:t>
                      </a:r>
                    </a:p>
                  </a:txBody>
                  <a:tcPr anchor="ctr">
                    <a:solidFill>
                      <a:srgbClr val="FFFFFF"/>
                    </a:solidFill>
                  </a:tcPr>
                </a:tc>
                <a:tc>
                  <a:txBody>
                    <a:bodyPr/>
                    <a:lstStyle/>
                    <a:p>
                      <a:r>
                        <a:rPr sz="1900" b="0" i="0">
                          <a:solidFill>
                            <a:srgbClr val="0C3571"/>
                          </a:solidFill>
                          <a:latin typeface="Times New Roman"/>
                          <a:ea typeface="Times New Roman"/>
                          <a:cs typeface="Times New Roman"/>
                          <a:sym typeface="Times New Roman"/>
                        </a:rPr>
                        <a:t>Error in parts/hour units</a:t>
                      </a:r>
                    </a:p>
                  </a:txBody>
                  <a:tcPr anchor="ctr">
                    <a:solidFill>
                      <a:srgbClr val="FFFFFF"/>
                    </a:solidFill>
                  </a:tcPr>
                </a:tc>
                <a:tc>
                  <a:txBody>
                    <a:bodyPr/>
                    <a:lstStyle/>
                    <a:p>
                      <a:pPr algn="ctr"/>
                      <a:r>
                        <a:rPr sz="1900" b="0" i="0">
                          <a:solidFill>
                            <a:srgbClr val="0C3571"/>
                          </a:solidFill>
                          <a:latin typeface="Times New Roman"/>
                          <a:ea typeface="Times New Roman"/>
                          <a:cs typeface="Times New Roman"/>
                          <a:sym typeface="Times New Roman"/>
                        </a:rPr>
                        <a:t>3.5093</a:t>
                      </a:r>
                    </a:p>
                  </a:txBody>
                  <a:tcPr anchor="ctr">
                    <a:solidFill>
                      <a:srgbClr val="FFFFFF"/>
                    </a:solidFill>
                  </a:tcPr>
                </a:tc>
              </a:tr>
              <a:tr h="640000">
                <a:tc>
                  <a:txBody>
                    <a:bodyPr/>
                    <a:lstStyle/>
                    <a:p>
                      <a:r>
                        <a:rPr sz="1900" b="1" i="0">
                          <a:solidFill>
                            <a:srgbClr val="0C3571"/>
                          </a:solidFill>
                          <a:latin typeface="Times New Roman"/>
                          <a:ea typeface="Times New Roman"/>
                          <a:cs typeface="Times New Roman"/>
                          <a:sym typeface="Times New Roman"/>
                        </a:rPr>
                        <a:t>MAE</a:t>
                      </a:r>
                    </a:p>
                  </a:txBody>
                  <a:tcPr anchor="ctr">
                    <a:solidFill>
                      <a:srgbClr val="DDE6F4"/>
                    </a:solidFill>
                  </a:tcPr>
                </a:tc>
                <a:tc>
                  <a:txBody>
                    <a:bodyPr/>
                    <a:lstStyle/>
                    <a:p>
                      <a:r>
                        <a:rPr sz="1900" b="0" i="0">
                          <a:solidFill>
                            <a:srgbClr val="0C3571"/>
                          </a:solidFill>
                          <a:latin typeface="Times New Roman"/>
                          <a:ea typeface="Times New Roman"/>
                          <a:cs typeface="Times New Roman"/>
                          <a:sym typeface="Times New Roman"/>
                        </a:rPr>
                        <a:t>Average absolute error</a:t>
                      </a:r>
                    </a:p>
                  </a:txBody>
                  <a:tcPr anchor="ctr">
                    <a:solidFill>
                      <a:srgbClr val="DDE6F4"/>
                    </a:solidFill>
                  </a:tcPr>
                </a:tc>
                <a:tc>
                  <a:txBody>
                    <a:bodyPr/>
                    <a:lstStyle/>
                    <a:p>
                      <a:pPr algn="ctr"/>
                      <a:r>
                        <a:rPr sz="1900" b="0" i="0">
                          <a:solidFill>
                            <a:srgbClr val="0C3571"/>
                          </a:solidFill>
                          <a:latin typeface="Times New Roman"/>
                          <a:ea typeface="Times New Roman"/>
                          <a:cs typeface="Times New Roman"/>
                          <a:sym typeface="Times New Roman"/>
                        </a:rPr>
                        <a:t>2.7154</a:t>
                      </a:r>
                    </a:p>
                  </a:txBody>
                  <a:tcPr anchor="ctr">
                    <a:solidFill>
                      <a:srgbClr val="DDE6F4"/>
                    </a:solidFill>
                  </a:tcPr>
                </a:tc>
              </a:tr>
            </a:tbl>
          </a:graphicData>
        </a:graphic>
      </p:graphicFrame>
      <p:sp>
        <p:nvSpPr>
          <p:cNvPr id="5" name="TextBox 4"/>
          <p:cNvSpPr txBox="1"/>
          <p:nvPr/>
        </p:nvSpPr>
        <p:spPr>
          <a:xfrm>
            <a:off x="7700000" y="1400000"/>
            <a:ext cx="4100000" cy="3800000"/>
          </a:xfrm>
          <a:prstGeom prst="rect">
            <a:avLst/>
          </a:prstGeom>
          <a:noFill/>
        </p:spPr>
        <p:txBody>
          <a:bodyPr wrap="square" anchor="t">
            <a:spAutoFit/>
          </a:bodyPr>
          <a:lstStyle/>
          <a:p>
            <a:pPr algn="l" marL="285750" indent="-285750">
              <a:spcAft>
                <a:spcPts val="1000"/>
              </a:spcAft>
              <a:buClr>
                <a:srgbClr val="2F5496"/>
              </a:buClr>
              <a:buFont typeface="Arial"/>
              <a:buChar char="•"/>
            </a:pPr>
            <a:r>
              <a:rPr sz="1800" b="0" i="0">
                <a:solidFill>
                  <a:srgbClr val="0C3571"/>
                </a:solidFill>
                <a:latin typeface="Times New Roman"/>
                <a:ea typeface="Times New Roman"/>
                <a:cs typeface="Times New Roman"/>
                <a:sym typeface="Times New Roman"/>
              </a:rPr>
              <a:t>The model explains about 90.6% of the variation in hourly output</a:t>
            </a:r>
          </a:p>
          <a:p>
            <a:pPr algn="l" marL="285750" indent="-285750">
              <a:spcAft>
                <a:spcPts val="1000"/>
              </a:spcAft>
              <a:buClr>
                <a:srgbClr val="2F5496"/>
              </a:buClr>
              <a:buFont typeface="Arial"/>
              <a:buChar char="•"/>
            </a:pPr>
            <a:r>
              <a:rPr sz="1800" b="0" i="0">
                <a:solidFill>
                  <a:srgbClr val="0C3571"/>
                </a:solidFill>
                <a:latin typeface="Times New Roman"/>
                <a:ea typeface="Times New Roman"/>
                <a:cs typeface="Times New Roman"/>
                <a:sym typeface="Times New Roman"/>
              </a:rPr>
              <a:t>Typical error is about 2.7 parts/hour, roughly 9% of the average output (29.3)</a:t>
            </a:r>
          </a:p>
          <a:p>
            <a:pPr algn="l" marL="285750" indent="-285750">
              <a:spcAft>
                <a:spcPts val="1000"/>
              </a:spcAft>
              <a:buClr>
                <a:srgbClr val="2F5496"/>
              </a:buClr>
              <a:buFont typeface="Arial"/>
              <a:buChar char="•"/>
            </a:pPr>
            <a:r>
              <a:rPr sz="1800" b="0" i="0">
                <a:solidFill>
                  <a:srgbClr val="0C3571"/>
                </a:solidFill>
                <a:latin typeface="Times New Roman"/>
                <a:ea typeface="Times New Roman"/>
                <a:cs typeface="Times New Roman"/>
                <a:sym typeface="Times New Roman"/>
              </a:rPr>
              <a:t>86% of test predictions fall within ±5 parts/hour of the actual value</a:t>
            </a:r>
          </a:p>
          <a:p>
            <a:pPr algn="l" marL="285750" indent="-285750">
              <a:spcAft>
                <a:spcPts val="1000"/>
              </a:spcAft>
              <a:buClr>
                <a:srgbClr val="2F5496"/>
              </a:buClr>
              <a:buFont typeface="Arial"/>
              <a:buChar char="•"/>
            </a:pPr>
            <a:r>
              <a:rPr sz="1800" b="0" i="0">
                <a:solidFill>
                  <a:srgbClr val="0C3571"/>
                </a:solidFill>
                <a:latin typeface="Times New Roman"/>
                <a:ea typeface="Times New Roman"/>
                <a:cs typeface="Times New Roman"/>
                <a:sym typeface="Times New Roman"/>
              </a:rPr>
              <a:t>Train R² (0.924) is close to test R² (0.906), so the model is not overfitting</a:t>
            </a:r>
          </a:p>
        </p:txBody>
      </p:sp>
      <p:sp>
        <p:nvSpPr>
          <p:cNvPr id="6" name="TextBox 5"/>
          <p:cNvSpPr txBox="1"/>
          <p:nvPr/>
        </p:nvSpPr>
        <p:spPr>
          <a:xfrm>
            <a:off x="925275" y="5000000"/>
            <a:ext cx="10300000" cy="1600000"/>
          </a:xfrm>
          <a:prstGeom prst="rect">
            <a:avLst/>
          </a:prstGeom>
          <a:noFill/>
        </p:spPr>
        <p:txBody>
          <a:bodyPr wrap="square" anchor="t">
            <a:spAutoFit/>
          </a:bodyPr>
          <a:lstStyle/>
          <a:p>
            <a:pPr algn="l" marL="285750" indent="-285750">
              <a:spcAft>
                <a:spcPts val="800"/>
              </a:spcAft>
              <a:buClr>
                <a:srgbClr val="2F5496"/>
              </a:buClr>
              <a:buFont typeface="Arial"/>
              <a:buChar char="•"/>
            </a:pPr>
            <a:r>
              <a:rPr sz="1800" b="0" i="0">
                <a:solidFill>
                  <a:srgbClr val="0C3571"/>
                </a:solidFill>
                <a:latin typeface="Times New Roman"/>
                <a:ea typeface="Times New Roman"/>
                <a:cs typeface="Times New Roman"/>
                <a:sym typeface="Times New Roman"/>
              </a:rPr>
              <a:t>RMSE is slightly above MAE: a few larger errors occur at the low-output end, because 19% of records have actual output floored at exactly 15 parts/hour</a:t>
            </a:r>
          </a:p>
          <a:p>
            <a:pPr algn="l" marL="285750" indent="-285750">
              <a:spcAft>
                <a:spcPts val="800"/>
              </a:spcAft>
              <a:buClr>
                <a:srgbClr val="2F5496"/>
              </a:buClr>
              <a:buFont typeface="Arial"/>
              <a:buChar char="•"/>
            </a:pPr>
            <a:r>
              <a:rPr sz="1800" b="0" i="0">
                <a:solidFill>
                  <a:srgbClr val="0C3571"/>
                </a:solidFill>
                <a:latin typeface="Times New Roman"/>
                <a:ea typeface="Times New Roman"/>
                <a:cs typeface="Times New Roman"/>
                <a:sym typeface="Times New Roman"/>
              </a:rPr>
              <a:t>Classification metrics (precision, recall, F1) do not apply to a regression target; RMSE, MSE, MAE and R² are 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Key Insights &amp; Recommendations</a:t>
            </a:r>
          </a:p>
        </p:txBody>
      </p:sp>
      <p:pic>
        <p:nvPicPr>
          <p:cNvPr id="4" name="Picture 3" descr="c6_coef.png"/>
          <p:cNvPicPr>
            <a:picLocks noChangeAspect="1"/>
          </p:cNvPicPr>
          <p:nvPr/>
        </p:nvPicPr>
        <p:blipFill>
          <a:blip r:embed="rId3"/>
          <a:stretch>
            <a:fillRect/>
          </a:stretch>
        </p:blipFill>
        <p:spPr>
          <a:xfrm>
            <a:off x="500000" y="1300000"/>
            <a:ext cx="5700000" cy="4045161"/>
          </a:xfrm>
          <a:prstGeom prst="rect">
            <a:avLst/>
          </a:prstGeom>
        </p:spPr>
      </p:pic>
      <p:sp>
        <p:nvSpPr>
          <p:cNvPr id="5" name="TextBox 4"/>
          <p:cNvSpPr txBox="1"/>
          <p:nvPr/>
        </p:nvSpPr>
        <p:spPr>
          <a:xfrm>
            <a:off x="6300000" y="1300000"/>
            <a:ext cx="5500000" cy="5400000"/>
          </a:xfrm>
          <a:prstGeom prst="rect">
            <a:avLst/>
          </a:prstGeom>
          <a:noFill/>
        </p:spPr>
        <p:txBody>
          <a:bodyPr wrap="square" anchor="t">
            <a:spAutoFit/>
          </a:bodyPr>
          <a:lstStyle/>
          <a:p>
            <a:pPr algn="l" marL="0" indent="0">
              <a:spcBef>
                <a:spcPts val="400"/>
              </a:spcBef>
              <a:spcAft>
                <a:spcPts val="500"/>
              </a:spcAft>
              <a:buNone/>
            </a:pPr>
            <a:r>
              <a:rPr sz="1600" b="1" i="0">
                <a:solidFill>
                  <a:srgbClr val="0C3571"/>
                </a:solidFill>
                <a:latin typeface="Times New Roman"/>
                <a:ea typeface="Times New Roman"/>
                <a:cs typeface="Times New Roman"/>
                <a:sym typeface="Times New Roman"/>
              </a:rPr>
              <a:t>Insights</a:t>
            </a:r>
          </a:p>
          <a:p>
            <a:pPr algn="l" marL="285750" indent="-285750">
              <a:spcAft>
                <a:spcPts val="500"/>
              </a:spcAft>
              <a:buClr>
                <a:srgbClr val="2F5496"/>
              </a:buClr>
              <a:buFont typeface="Arial"/>
              <a:buChar char="•"/>
            </a:pPr>
            <a:r>
              <a:rPr sz="1600" b="0" i="0">
                <a:solidFill>
                  <a:srgbClr val="0C3571"/>
                </a:solidFill>
                <a:latin typeface="Times New Roman"/>
                <a:ea typeface="Times New Roman"/>
                <a:cs typeface="Times New Roman"/>
                <a:sym typeface="Times New Roman"/>
              </a:rPr>
              <a:t>Total cycle time is the dominant driver: +1 SD lowers output by about 10 parts/hour</a:t>
            </a:r>
          </a:p>
          <a:p>
            <a:pPr algn="l" marL="285750" indent="-285750">
              <a:spcAft>
                <a:spcPts val="500"/>
              </a:spcAft>
              <a:buClr>
                <a:srgbClr val="2F5496"/>
              </a:buClr>
              <a:buFont typeface="Arial"/>
              <a:buChar char="•"/>
            </a:pPr>
            <a:r>
              <a:rPr sz="1600" b="0" i="0">
                <a:solidFill>
                  <a:srgbClr val="0C3571"/>
                </a:solidFill>
                <a:latin typeface="Times New Roman"/>
                <a:ea typeface="Times New Roman"/>
                <a:cs typeface="Times New Roman"/>
                <a:sym typeface="Times New Roman"/>
              </a:rPr>
              <a:t>Older machines, Type_C machines and the Night shift produce less</a:t>
            </a:r>
          </a:p>
          <a:p>
            <a:pPr algn="l" marL="285750" indent="-285750">
              <a:spcAft>
                <a:spcPts val="500"/>
              </a:spcAft>
              <a:buClr>
                <a:srgbClr val="2F5496"/>
              </a:buClr>
              <a:buFont typeface="Arial"/>
              <a:buChar char="•"/>
            </a:pPr>
            <a:r>
              <a:rPr sz="1600" b="0" i="0">
                <a:solidFill>
                  <a:srgbClr val="0C3571"/>
                </a:solidFill>
                <a:latin typeface="Times New Roman"/>
                <a:ea typeface="Times New Roman"/>
                <a:cs typeface="Times New Roman"/>
                <a:sym typeface="Times New Roman"/>
              </a:rPr>
              <a:t>Higher efficiency score, injection temperature and Premium material raise output</a:t>
            </a:r>
          </a:p>
          <a:p>
            <a:pPr algn="l" marL="0" indent="0">
              <a:spcBef>
                <a:spcPts val="400"/>
              </a:spcBef>
              <a:spcAft>
                <a:spcPts val="500"/>
              </a:spcAft>
              <a:buNone/>
            </a:pPr>
            <a:r>
              <a:rPr sz="1600" b="1" i="0">
                <a:solidFill>
                  <a:srgbClr val="0C3571"/>
                </a:solidFill>
                <a:latin typeface="Times New Roman"/>
                <a:ea typeface="Times New Roman"/>
                <a:cs typeface="Times New Roman"/>
                <a:sym typeface="Times New Roman"/>
              </a:rPr>
              <a:t>Recommendations</a:t>
            </a:r>
          </a:p>
          <a:p>
            <a:pPr algn="l" marL="285750" indent="-285750">
              <a:spcAft>
                <a:spcPts val="500"/>
              </a:spcAft>
              <a:buClr>
                <a:srgbClr val="2F5496"/>
              </a:buClr>
              <a:buFont typeface="Arial"/>
              <a:buChar char="•"/>
            </a:pPr>
            <a:r>
              <a:rPr sz="1600" b="0" i="0">
                <a:solidFill>
                  <a:srgbClr val="0C3571"/>
                </a:solidFill>
                <a:latin typeface="Times New Roman"/>
                <a:ea typeface="Times New Roman"/>
                <a:cs typeface="Times New Roman"/>
                <a:sym typeface="Times New Roman"/>
              </a:rPr>
              <a:t>Reduce cycle time first to gain the most output</a:t>
            </a:r>
          </a:p>
          <a:p>
            <a:pPr algn="l" marL="285750" indent="-285750">
              <a:spcAft>
                <a:spcPts val="500"/>
              </a:spcAft>
              <a:buClr>
                <a:srgbClr val="2F5496"/>
              </a:buClr>
              <a:buFont typeface="Arial"/>
              <a:buChar char="•"/>
            </a:pPr>
            <a:r>
              <a:rPr sz="1600" b="0" i="0">
                <a:solidFill>
                  <a:srgbClr val="0C3571"/>
                </a:solidFill>
                <a:latin typeface="Times New Roman"/>
                <a:ea typeface="Times New Roman"/>
                <a:cs typeface="Times New Roman"/>
                <a:sym typeface="Times New Roman"/>
              </a:rPr>
              <a:t>Prioritize maintenance or replacement of older machines</a:t>
            </a:r>
          </a:p>
          <a:p>
            <a:pPr algn="l" marL="285750" indent="-285750">
              <a:spcAft>
                <a:spcPts val="500"/>
              </a:spcAft>
              <a:buClr>
                <a:srgbClr val="2F5496"/>
              </a:buClr>
              <a:buFont typeface="Arial"/>
              <a:buChar char="•"/>
            </a:pPr>
            <a:r>
              <a:rPr sz="1600" b="0" i="0">
                <a:solidFill>
                  <a:srgbClr val="0C3571"/>
                </a:solidFill>
                <a:latin typeface="Times New Roman"/>
                <a:ea typeface="Times New Roman"/>
                <a:cs typeface="Times New Roman"/>
                <a:sym typeface="Times New Roman"/>
              </a:rPr>
              <a:t>Train less experienced operators and review Night-shift practices</a:t>
            </a:r>
          </a:p>
          <a:p>
            <a:pPr algn="l" marL="285750" indent="-285750">
              <a:spcAft>
                <a:spcPts val="500"/>
              </a:spcAft>
              <a:buClr>
                <a:srgbClr val="2F5496"/>
              </a:buClr>
              <a:buFont typeface="Arial"/>
              <a:buChar char="•"/>
            </a:pPr>
            <a:r>
              <a:rPr sz="1600" b="0" i="0">
                <a:solidFill>
                  <a:srgbClr val="0C3571"/>
                </a:solidFill>
                <a:latin typeface="Times New Roman"/>
                <a:ea typeface="Times New Roman"/>
                <a:cs typeface="Times New Roman"/>
                <a:sym typeface="Times New Roman"/>
              </a:rPr>
              <a:t>Flag machines running well below predicted output as underperforming</a:t>
            </a:r>
          </a:p>
        </p:txBody>
      </p:sp>
      <p:sp>
        <p:nvSpPr>
          <p:cNvPr id="6" name="TextBox 5"/>
          <p:cNvSpPr txBox="1"/>
          <p:nvPr/>
        </p:nvSpPr>
        <p:spPr>
          <a:xfrm>
            <a:off x="500000" y="5750000"/>
            <a:ext cx="5700000" cy="700000"/>
          </a:xfrm>
          <a:prstGeom prst="rect">
            <a:avLst/>
          </a:prstGeom>
          <a:noFill/>
        </p:spPr>
        <p:txBody>
          <a:bodyPr wrap="square" anchor="t">
            <a:spAutoFit/>
          </a:bodyPr>
          <a:lstStyle/>
          <a:p>
            <a:pPr algn="l" marL="0" indent="0">
              <a:buNone/>
            </a:pPr>
            <a:r>
              <a:rPr sz="1300" b="0" i="1">
                <a:solidFill>
                  <a:srgbClr val="2F5496"/>
                </a:solidFill>
                <a:latin typeface="Times New Roman"/>
                <a:ea typeface="Times New Roman"/>
                <a:cs typeface="Times New Roman"/>
                <a:sym typeface="Times New Roman"/>
              </a:rPr>
              <a:t>Coefficients from the standardized model. Several features are correlated with each other, so read individual coefficients with care.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75" y="300000"/>
            <a:ext cx="9200000" cy="800000"/>
          </a:xfrm>
          <a:prstGeom prst="rect">
            <a:avLst/>
          </a:prstGeom>
          <a:noFill/>
        </p:spPr>
        <p:txBody>
          <a:bodyPr wrap="square" anchor="t">
            <a:spAutoFit/>
          </a:bodyPr>
          <a:lstStyle/>
          <a:p>
            <a:pPr algn="l" marL="0" indent="0">
              <a:buNone/>
            </a:pPr>
            <a:r>
              <a:rPr sz="3600" b="0" i="0">
                <a:solidFill>
                  <a:srgbClr val="2F5496"/>
                </a:solidFill>
                <a:latin typeface="Times New Roman"/>
                <a:ea typeface="Times New Roman"/>
                <a:cs typeface="Times New Roman"/>
                <a:sym typeface="Times New Roman"/>
              </a:rPr>
              <a:t>FastAPI Deployment</a:t>
            </a:r>
          </a:p>
        </p:txBody>
      </p:sp>
      <p:sp>
        <p:nvSpPr>
          <p:cNvPr id="4" name="TextBox 3"/>
          <p:cNvSpPr txBox="1"/>
          <p:nvPr/>
        </p:nvSpPr>
        <p:spPr>
          <a:xfrm>
            <a:off x="925275" y="1250000"/>
            <a:ext cx="10300000" cy="2900000"/>
          </a:xfrm>
          <a:prstGeom prst="rect">
            <a:avLst/>
          </a:prstGeom>
          <a:noFill/>
        </p:spPr>
        <p:txBody>
          <a:bodyPr wrap="square" anchor="t">
            <a:spAutoFit/>
          </a:bodyPr>
          <a:lstStyle/>
          <a:p>
            <a:pPr algn="l" marL="285750" indent="-285750">
              <a:spcAft>
                <a:spcPts val="800"/>
              </a:spcAft>
              <a:buClr>
                <a:srgbClr val="2F5496"/>
              </a:buClr>
              <a:buFont typeface="Arial"/>
              <a:buChar char="•"/>
            </a:pPr>
            <a:r>
              <a:rPr sz="1900" b="1" i="0">
                <a:solidFill>
                  <a:srgbClr val="0C3571"/>
                </a:solidFill>
                <a:latin typeface="Times New Roman"/>
                <a:ea typeface="Times New Roman"/>
                <a:cs typeface="Times New Roman"/>
                <a:sym typeface="Times New Roman"/>
              </a:rPr>
              <a:t>FastAPI service </a:t>
            </a:r>
            <a:r>
              <a:rPr sz="1900" b="0" i="0">
                <a:solidFill>
                  <a:srgbClr val="0C3571"/>
                </a:solidFill>
                <a:latin typeface="Times New Roman"/>
                <a:ea typeface="Times New Roman"/>
                <a:cs typeface="Times New Roman"/>
                <a:sym typeface="Times New Roman"/>
              </a:rPr>
              <a:t>"Manufacturing Output Prediction API" loads the saved model, scaler and feature list at startup.</a:t>
            </a:r>
          </a:p>
          <a:p>
            <a:pPr algn="l" marL="285750" indent="-285750">
              <a:spcAft>
                <a:spcPts val="800"/>
              </a:spcAft>
              <a:buClr>
                <a:srgbClr val="2F5496"/>
              </a:buClr>
              <a:buFont typeface="Arial"/>
              <a:buChar char="•"/>
            </a:pPr>
            <a:r>
              <a:rPr sz="1900" b="1" i="0">
                <a:solidFill>
                  <a:srgbClr val="0C3571"/>
                </a:solidFill>
                <a:latin typeface="Times New Roman"/>
                <a:ea typeface="Times New Roman"/>
                <a:cs typeface="Times New Roman"/>
                <a:sym typeface="Times New Roman"/>
              </a:rPr>
              <a:t>POST /predict </a:t>
            </a:r>
            <a:r>
              <a:rPr sz="1900" b="0" i="0">
                <a:solidFill>
                  <a:srgbClr val="0C3571"/>
                </a:solidFill>
                <a:latin typeface="Times New Roman"/>
                <a:ea typeface="Times New Roman"/>
                <a:cs typeface="Times New Roman"/>
                <a:sym typeface="Times New Roman"/>
              </a:rPr>
              <a:t>accepts a JSON body with 18 inputs, validated by a Pydantic MachineData schema.</a:t>
            </a:r>
          </a:p>
          <a:p>
            <a:pPr algn="l" marL="285750" indent="-285750">
              <a:spcAft>
                <a:spcPts val="800"/>
              </a:spcAft>
              <a:buClr>
                <a:srgbClr val="2F5496"/>
              </a:buClr>
              <a:buFont typeface="Arial"/>
              <a:buChar char="•"/>
            </a:pPr>
            <a:r>
              <a:rPr sz="1900" b="1" i="0">
                <a:solidFill>
                  <a:srgbClr val="0C3571"/>
                </a:solidFill>
                <a:latin typeface="Times New Roman"/>
                <a:ea typeface="Times New Roman"/>
                <a:cs typeface="Times New Roman"/>
                <a:sym typeface="Times New Roman"/>
              </a:rPr>
              <a:t>Prediction pipeline: </a:t>
            </a:r>
            <a:r>
              <a:rPr sz="1900" b="0" i="0">
                <a:solidFill>
                  <a:srgbClr val="0C3571"/>
                </a:solidFill>
                <a:latin typeface="Times New Roman"/>
                <a:ea typeface="Times New Roman"/>
                <a:cs typeface="Times New Roman"/>
                <a:sym typeface="Times New Roman"/>
              </a:rPr>
              <a:t>JSON → DataFrame → one-hot encoding → align to training features → StandardScaler → model.</a:t>
            </a:r>
          </a:p>
          <a:p>
            <a:pPr algn="l" marL="285750" indent="-285750">
              <a:spcAft>
                <a:spcPts val="800"/>
              </a:spcAft>
              <a:buClr>
                <a:srgbClr val="2F5496"/>
              </a:buClr>
              <a:buFont typeface="Arial"/>
              <a:buChar char="•"/>
            </a:pPr>
            <a:r>
              <a:rPr sz="1900" b="1" i="0">
                <a:solidFill>
                  <a:srgbClr val="0C3571"/>
                </a:solidFill>
                <a:latin typeface="Times New Roman"/>
                <a:ea typeface="Times New Roman"/>
                <a:cs typeface="Times New Roman"/>
                <a:sym typeface="Times New Roman"/>
              </a:rPr>
              <a:t>Response: </a:t>
            </a:r>
            <a:r>
              <a:rPr sz="1900" b="0" i="0">
                <a:solidFill>
                  <a:srgbClr val="0C3571"/>
                </a:solidFill>
                <a:latin typeface="Times New Roman"/>
                <a:ea typeface="Times New Roman"/>
                <a:cs typeface="Times New Roman"/>
                <a:sym typeface="Times New Roman"/>
              </a:rPr>
              <a:t>Predicted_Parts_Per_Hour, rounded to 2 decimals. Swagger docs are available at /docs.</a:t>
            </a:r>
          </a:p>
        </p:txBody>
      </p:sp>
      <p:sp>
        <p:nvSpPr>
          <p:cNvPr id="5" name="Rectangle 4"/>
          <p:cNvSpPr/>
          <p:nvPr/>
        </p:nvSpPr>
        <p:spPr>
          <a:xfrm>
            <a:off x="925275" y="4000000"/>
            <a:ext cx="10300000" cy="2600000"/>
          </a:xfrm>
          <a:prstGeom prst="rect">
            <a:avLst/>
          </a:prstGeom>
          <a:solidFill>
            <a:srgbClr val="EEF2F9"/>
          </a:solidFill>
          <a:ln>
            <a:solidFill>
              <a:srgbClr val="9DB4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i="0">
                <a:solidFill>
                  <a:srgbClr val="0C3571"/>
                </a:solidFill>
                <a:latin typeface="Courier New"/>
                <a:ea typeface="Courier New"/>
                <a:cs typeface="Courier New"/>
                <a:sym typeface="Courier New"/>
              </a:rPr>
              <a:t>Request (sample record):</a:t>
            </a:r>
          </a:p>
          <a:p>
            <a:pPr algn="l"/>
            <a:r>
              <a:rPr sz="1400" b="0" i="0">
                <a:solidFill>
                  <a:srgbClr val="0C3571"/>
                </a:solidFill>
                <a:latin typeface="Courier New"/>
                <a:ea typeface="Courier New"/>
                <a:cs typeface="Courier New"/>
                <a:sym typeface="Courier New"/>
              </a:rPr>
              <a:t>{"Injection_Temperature": 221.5, "Injection_Pressure": 123.7, "Cycle_Time": 40.9,</a:t>
            </a:r>
          </a:p>
          <a:p>
            <a:pPr algn="l"/>
            <a:r>
              <a:rPr sz="1400" b="0" i="0">
                <a:solidFill>
                  <a:srgbClr val="0C3571"/>
                </a:solidFill>
                <a:latin typeface="Courier New"/>
                <a:ea typeface="Courier New"/>
                <a:cs typeface="Courier New"/>
                <a:sym typeface="Courier New"/>
              </a:rPr>
              <a:t> "Cooling_Time": 11.0, "Material_Viscosity": 144.9, "Ambient_Temperature": 24.0,</a:t>
            </a:r>
          </a:p>
          <a:p>
            <a:pPr algn="l"/>
            <a:r>
              <a:rPr sz="1400" b="0" i="0">
                <a:solidFill>
                  <a:srgbClr val="0C3571"/>
                </a:solidFill>
                <a:latin typeface="Courier New"/>
                <a:ea typeface="Courier New"/>
                <a:cs typeface="Courier New"/>
                <a:sym typeface="Courier New"/>
              </a:rPr>
              <a:t> "Machine_Age": 13.0, "Operator_Experience": 5.5, "Maintenance_Hours": 42,</a:t>
            </a:r>
          </a:p>
          <a:p>
            <a:pPr algn="l"/>
            <a:r>
              <a:rPr sz="1400" b="0" i="0">
                <a:solidFill>
                  <a:srgbClr val="0C3571"/>
                </a:solidFill>
                <a:latin typeface="Courier New"/>
                <a:ea typeface="Courier New"/>
                <a:cs typeface="Courier New"/>
                <a:sym typeface="Courier New"/>
              </a:rPr>
              <a:t> "Shift": "Evening", "Machine_Type": "Type_A", "Material_Grade": "Economy",</a:t>
            </a:r>
          </a:p>
          <a:p>
            <a:pPr algn="l"/>
            <a:r>
              <a:rPr sz="1400" b="0" i="0">
                <a:solidFill>
                  <a:srgbClr val="0C3571"/>
                </a:solidFill>
                <a:latin typeface="Courier New"/>
                <a:ea typeface="Courier New"/>
                <a:cs typeface="Courier New"/>
                <a:sym typeface="Courier New"/>
              </a:rPr>
              <a:t> "Day_of_Week": "Friday", "Temperature_Pressure_Ratio": 1.79, "Total_Cycle_Time": 51.8,</a:t>
            </a:r>
          </a:p>
          <a:p>
            <a:pPr algn="l"/>
            <a:r>
              <a:rPr sz="1400" b="0" i="0">
                <a:solidFill>
                  <a:srgbClr val="0C3571"/>
                </a:solidFill>
                <a:latin typeface="Courier New"/>
                <a:ea typeface="Courier New"/>
                <a:cs typeface="Courier New"/>
                <a:sym typeface="Courier New"/>
              </a:rPr>
              <a:t> "Efficiency_Score": 0.036, "Machine_Utilization": 0.107, "Hour": 17}</a:t>
            </a:r>
          </a:p>
          <a:p>
            <a:pPr algn="l"/>
            <a:r>
              <a:rPr sz="1400" b="0" i="0">
                <a:solidFill>
                  <a:srgbClr val="0C3571"/>
                </a:solidFill>
                <a:latin typeface="Courier New"/>
                <a:ea typeface="Courier New"/>
                <a:cs typeface="Courier New"/>
                <a:sym typeface="Courier New"/>
              </a:rPr>
              <a:t/>
            </a:r>
          </a:p>
          <a:p>
            <a:pPr algn="l"/>
            <a:r>
              <a:rPr sz="1400" b="1" i="0">
                <a:solidFill>
                  <a:srgbClr val="0C3571"/>
                </a:solidFill>
                <a:latin typeface="Courier New"/>
                <a:ea typeface="Courier New"/>
                <a:cs typeface="Courier New"/>
                <a:sym typeface="Courier New"/>
              </a:rPr>
              <a:t>Response:  {"Predicted_Parts_Per_Hour": 19.94}   (actual value: 18.6)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25286" y="566057"/>
            <a:ext cx="9200000" cy="700000"/>
          </a:xfrm>
          <a:prstGeom prst="rect">
            <a:avLst/>
          </a:prstGeom>
          <a:noFill/>
        </p:spPr>
        <p:txBody>
          <a:bodyPr wrap="square" anchor="t">
            <a:spAutoFit/>
          </a:bodyPr>
          <a:lstStyle/>
          <a:p>
            <a:pPr algn="l" marL="0" indent="0">
              <a:buNone/>
            </a:pPr>
            <a:r>
              <a:rPr sz="2800" b="0" i="0">
                <a:solidFill>
                  <a:srgbClr val="2F5496"/>
                </a:solidFill>
                <a:latin typeface="Times New Roman"/>
                <a:ea typeface="Times New Roman"/>
                <a:cs typeface="Times New Roman"/>
                <a:sym typeface="Times New Roman"/>
              </a:rPr>
              <a:t>Docker Deployment</a:t>
            </a:r>
          </a:p>
        </p:txBody>
      </p:sp>
      <p:sp>
        <p:nvSpPr>
          <p:cNvPr id="4" name="TextBox 3"/>
          <p:cNvSpPr txBox="1"/>
          <p:nvPr/>
        </p:nvSpPr>
        <p:spPr>
          <a:xfrm>
            <a:off x="925286" y="1450000"/>
            <a:ext cx="10300000" cy="5000000"/>
          </a:xfrm>
          <a:prstGeom prst="rect">
            <a:avLst/>
          </a:prstGeom>
          <a:noFill/>
        </p:spPr>
        <p:txBody>
          <a:bodyPr wrap="square" anchor="t">
            <a:spAutoFit/>
          </a:bodyPr>
          <a:lstStyle/>
          <a:p>
            <a:pPr algn="l" marL="285750" indent="-285750">
              <a:lnSpc>
                <a:spcPct val="110000"/>
              </a:lnSpc>
              <a:spcAft>
                <a:spcPts val="1400"/>
              </a:spcAft>
              <a:buClr>
                <a:srgbClr val="2F5496"/>
              </a:buClr>
              <a:buFont typeface="Arial"/>
              <a:buChar char="•"/>
            </a:pPr>
            <a:r>
              <a:rPr sz="2100" b="1" i="0">
                <a:solidFill>
                  <a:srgbClr val="2F5496"/>
                </a:solidFill>
                <a:latin typeface="Times New Roman"/>
                <a:ea typeface="Times New Roman"/>
                <a:cs typeface="Times New Roman"/>
                <a:sym typeface="Times New Roman"/>
              </a:rPr>
              <a:t>Create a Dockerfile</a:t>
            </a:r>
            <a:r>
              <a:rPr sz="2100" b="0" i="0">
                <a:solidFill>
                  <a:srgbClr val="2F5496"/>
                </a:solidFill>
                <a:latin typeface="Times New Roman"/>
                <a:ea typeface="Times New Roman"/>
                <a:cs typeface="Times New Roman"/>
                <a:sym typeface="Times New Roman"/>
              </a:rPr>
              <a:t> – Uses the python:3.10-slim base image, sets /app as the working directory and containerizes the FastAPI application.</a:t>
            </a:r>
          </a:p>
          <a:p>
            <a:pPr algn="l" marL="285750" indent="-285750">
              <a:lnSpc>
                <a:spcPct val="110000"/>
              </a:lnSpc>
              <a:spcAft>
                <a:spcPts val="1400"/>
              </a:spcAft>
              <a:buClr>
                <a:srgbClr val="2F5496"/>
              </a:buClr>
              <a:buFont typeface="Arial"/>
              <a:buChar char="•"/>
            </a:pPr>
            <a:r>
              <a:rPr sz="2100" b="1" i="0">
                <a:solidFill>
                  <a:srgbClr val="2F5496"/>
                </a:solidFill>
                <a:latin typeface="Times New Roman"/>
                <a:ea typeface="Times New Roman"/>
                <a:cs typeface="Times New Roman"/>
                <a:sym typeface="Times New Roman"/>
              </a:rPr>
              <a:t>Prepare requirements.txt</a:t>
            </a:r>
            <a:r>
              <a:rPr sz="2100" b="0" i="0">
                <a:solidFill>
                  <a:srgbClr val="2F5496"/>
                </a:solidFill>
                <a:latin typeface="Times New Roman"/>
                <a:ea typeface="Times New Roman"/>
                <a:cs typeface="Times New Roman"/>
                <a:sym typeface="Times New Roman"/>
              </a:rPr>
              <a:t> – Lists the dependencies: fastapi, uvicorn, pandas, scikit-learn, joblib and pydantic.</a:t>
            </a:r>
          </a:p>
          <a:p>
            <a:pPr algn="l" marL="285750" indent="-285750">
              <a:lnSpc>
                <a:spcPct val="110000"/>
              </a:lnSpc>
              <a:spcAft>
                <a:spcPts val="1400"/>
              </a:spcAft>
              <a:buClr>
                <a:srgbClr val="2F5496"/>
              </a:buClr>
              <a:buFont typeface="Arial"/>
              <a:buChar char="•"/>
            </a:pPr>
            <a:r>
              <a:rPr sz="2100" b="1" i="0">
                <a:solidFill>
                  <a:srgbClr val="2F5496"/>
                </a:solidFill>
                <a:latin typeface="Times New Roman"/>
                <a:ea typeface="Times New Roman"/>
                <a:cs typeface="Times New Roman"/>
                <a:sym typeface="Times New Roman"/>
              </a:rPr>
              <a:t>Copy app and model artifacts</a:t>
            </a:r>
            <a:r>
              <a:rPr sz="2100" b="0" i="0">
                <a:solidFill>
                  <a:srgbClr val="2F5496"/>
                </a:solidFill>
                <a:latin typeface="Times New Roman"/>
                <a:ea typeface="Times New Roman"/>
                <a:cs typeface="Times New Roman"/>
                <a:sym typeface="Times New Roman"/>
              </a:rPr>
              <a:t> – Packages app.py together with linear_regression_model.pkl, scaler.pkl and feature_names.pkl.</a:t>
            </a:r>
          </a:p>
          <a:p>
            <a:pPr algn="l" marL="285750" indent="-285750">
              <a:lnSpc>
                <a:spcPct val="110000"/>
              </a:lnSpc>
              <a:spcAft>
                <a:spcPts val="1400"/>
              </a:spcAft>
              <a:buClr>
                <a:srgbClr val="2F5496"/>
              </a:buClr>
              <a:buFont typeface="Arial"/>
              <a:buChar char="•"/>
            </a:pPr>
            <a:r>
              <a:rPr sz="2100" b="1" i="0">
                <a:solidFill>
                  <a:srgbClr val="2F5496"/>
                </a:solidFill>
                <a:latin typeface="Times New Roman"/>
                <a:ea typeface="Times New Roman"/>
                <a:cs typeface="Times New Roman"/>
                <a:sym typeface="Times New Roman"/>
              </a:rPr>
              <a:t>Expose and run</a:t>
            </a:r>
            <a:r>
              <a:rPr sz="2100" b="0" i="0">
                <a:solidFill>
                  <a:srgbClr val="2F5496"/>
                </a:solidFill>
                <a:latin typeface="Times New Roman"/>
                <a:ea typeface="Times New Roman"/>
                <a:cs typeface="Times New Roman"/>
                <a:sym typeface="Times New Roman"/>
              </a:rPr>
              <a:t> – Exposes port 8000 and starts the server with: uvicorn app:app --host 0.0.0.0 --port 8000.</a:t>
            </a:r>
          </a:p>
          <a:p>
            <a:pPr algn="l" marL="285750" indent="-285750">
              <a:lnSpc>
                <a:spcPct val="110000"/>
              </a:lnSpc>
              <a:spcAft>
                <a:spcPts val="1400"/>
              </a:spcAft>
              <a:buClr>
                <a:srgbClr val="2F5496"/>
              </a:buClr>
              <a:buFont typeface="Arial"/>
              <a:buChar char="•"/>
            </a:pPr>
            <a:r>
              <a:rPr sz="2100" b="1" i="0">
                <a:solidFill>
                  <a:srgbClr val="2F5496"/>
                </a:solidFill>
                <a:latin typeface="Times New Roman"/>
                <a:ea typeface="Times New Roman"/>
                <a:cs typeface="Times New Roman"/>
                <a:sym typeface="Times New Roman"/>
              </a:rPr>
              <a:t>Build and run</a:t>
            </a:r>
            <a:r>
              <a:rPr sz="2100" b="0" i="0">
                <a:solidFill>
                  <a:srgbClr val="2F5496"/>
                </a:solidFill>
                <a:latin typeface="Times New Roman"/>
                <a:ea typeface="Times New Roman"/>
                <a:cs typeface="Times New Roman"/>
                <a:sym typeface="Times New Roman"/>
              </a:rPr>
              <a:t> – docker build -t manufacturing-api .  then  docker run -p 8000:8000 manufacturing-api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887186" y="650107"/>
            <a:ext cx="9200000" cy="700000"/>
          </a:xfrm>
          <a:prstGeom prst="rect">
            <a:avLst/>
          </a:prstGeom>
          <a:noFill/>
        </p:spPr>
        <p:txBody>
          <a:bodyPr wrap="square" anchor="t">
            <a:spAutoFit/>
          </a:bodyPr>
          <a:lstStyle/>
          <a:p>
            <a:pPr algn="l" marL="0" indent="0">
              <a:buNone/>
            </a:pPr>
            <a:r>
              <a:rPr sz="2800" b="1" i="0">
                <a:solidFill>
                  <a:srgbClr val="2F5496"/>
                </a:solidFill>
                <a:latin typeface="Times New Roman"/>
                <a:ea typeface="Times New Roman"/>
                <a:cs typeface="Times New Roman"/>
                <a:sym typeface="Times New Roman"/>
              </a:rPr>
              <a:t>Conclusion</a:t>
            </a:r>
          </a:p>
        </p:txBody>
      </p:sp>
      <p:sp>
        <p:nvSpPr>
          <p:cNvPr id="4" name="TextBox 3"/>
          <p:cNvSpPr txBox="1"/>
          <p:nvPr/>
        </p:nvSpPr>
        <p:spPr>
          <a:xfrm>
            <a:off x="887186" y="1450000"/>
            <a:ext cx="10417500" cy="5000000"/>
          </a:xfrm>
          <a:prstGeom prst="rect">
            <a:avLst/>
          </a:prstGeom>
          <a:noFill/>
        </p:spPr>
        <p:txBody>
          <a:bodyPr wrap="square" anchor="t">
            <a:spAutoFit/>
          </a:bodyPr>
          <a:lstStyle/>
          <a:p>
            <a:pPr algn="just" marL="0" indent="0">
              <a:lnSpc>
                <a:spcPct val="115000"/>
              </a:lnSpc>
              <a:buNone/>
            </a:pPr>
            <a:r>
              <a:rPr sz="2100" b="0" i="0">
                <a:solidFill>
                  <a:srgbClr val="2F5496"/>
                </a:solidFill>
                <a:latin typeface="Times New Roman"/>
                <a:ea typeface="Times New Roman"/>
                <a:cs typeface="Times New Roman"/>
                <a:sym typeface="Times New Roman"/>
              </a:rPr>
              <a:t>We built a Linear Regression model to predict the hourly output of injection molding machines from operating parameters such as temperature, pressure, cycle time, material properties, machine age and operator experience. The project covered data loading, exploratory data analysis, preprocessing (median imputation, one-hot encoding, scaling) and model training, followed by evaluation with R² (0.906), MSE (12.32), RMSE (3.51) and MAE (2.72). Insights from the model identified cycle time as the key factor affecting production and gave actionable recommendations for machine settings, maintenance and operator training. The trained model is served through a FastAPI backend and containerized with Docker using a Dockerfile and requirements.txt for production-ready deployment. Overall, the project demonstrates an end-to-end data science workflow with practical industrial applications.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0232571" y="304800"/>
            <a:ext cx="1578429" cy="1055914"/>
          </a:xfrm>
          <a:prstGeom prst="rect">
            <a:avLst/>
          </a:prstGeom>
        </p:spPr>
      </p:pic>
      <p:sp>
        <p:nvSpPr>
          <p:cNvPr id="3" name="TextBox 2"/>
          <p:cNvSpPr txBox="1"/>
          <p:nvPr/>
        </p:nvSpPr>
        <p:spPr>
          <a:xfrm>
            <a:off x="903457" y="2300000"/>
            <a:ext cx="10385100" cy="2000000"/>
          </a:xfrm>
          <a:prstGeom prst="rect">
            <a:avLst/>
          </a:prstGeom>
          <a:noFill/>
        </p:spPr>
        <p:txBody>
          <a:bodyPr wrap="square" anchor="ctr">
            <a:spAutoFit/>
          </a:bodyPr>
          <a:lstStyle/>
          <a:p>
            <a:pPr algn="ctr" marL="0" indent="0">
              <a:buNone/>
            </a:pPr>
            <a:r>
              <a:rPr sz="8000" b="0" i="0">
                <a:solidFill>
                  <a:srgbClr val="2F5496"/>
                </a:solidFill>
                <a:latin typeface="Times New Roman"/>
                <a:ea typeface="Times New Roman"/>
                <a:cs typeface="Times New Roman"/>
                <a:sym typeface="Times New Roman"/>
              </a:rPr>
              <a:t>Any Queries ???</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2025-09-02T04:26:51Z</dcterms:created>
  <dc:creator>TNS INDIA FOUNDATION</dc:creator>
</cp:coreProperties>
</file>